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 Medium" panose="00000600000000000000" pitchFamily="2" charset="0"/>
      <p:regular r:id="rId12"/>
      <p: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9E1B6B-B6E0-668B-2414-EBC2EA3D7B9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D70F5E-2E51-468F-F663-1912AC7DEEED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81205B-B872-47B6-7D20-C59C75EEDDA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47FC7-95C9-7A14-A3DA-A0230463A268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B7D8D-68F8-F186-ADCF-3D257A3545EA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0499DD-8CA8-832F-849F-3A2FBEC037F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392-9008-C5FD-BD02-373FC2EFF4F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D62054-D6B5-1ADE-9B06-A4A8D9ECCC6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E75ED7-74CF-2F71-625D-AA9D76CAB053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flipH="1" flipV="1">
            <a:off x="7581323" y="11813"/>
            <a:ext cx="3365481" cy="10274023"/>
          </a:xfrm>
          <a:prstGeom prst="rect">
            <a:avLst/>
          </a:prstGeom>
          <a:solidFill>
            <a:srgbClr val="6E9A26">
              <a:alpha val="35000"/>
            </a:srgbClr>
          </a:solidFill>
          <a:ln>
            <a:noFill/>
          </a:ln>
        </p:spPr>
      </p:sp>
      <p:sp>
        <p:nvSpPr>
          <p:cNvPr id="17" name="Прямоугольник 16"/>
          <p:cNvSpPr/>
          <p:nvPr userDrawn="1"/>
        </p:nvSpPr>
        <p:spPr bwMode="auto">
          <a:xfrm flipH="1" flipV="1">
            <a:off x="10000897" y="19350"/>
            <a:ext cx="615127" cy="1026764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</p:sp>
      <p:sp>
        <p:nvSpPr>
          <p:cNvPr id="19" name="Прямоугольник 18"/>
          <p:cNvSpPr/>
          <p:nvPr userDrawn="1"/>
        </p:nvSpPr>
        <p:spPr bwMode="auto">
          <a:xfrm flipH="1" flipV="1">
            <a:off x="7295293" y="11808"/>
            <a:ext cx="1578123" cy="10274023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20" name="Прямоугольник 19"/>
          <p:cNvSpPr/>
          <p:nvPr userDrawn="1"/>
        </p:nvSpPr>
        <p:spPr bwMode="auto">
          <a:xfrm flipH="1" flipV="1">
            <a:off x="11430589" y="-10013"/>
            <a:ext cx="579047" cy="10292475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22" name="Прямоугольник 21"/>
          <p:cNvSpPr/>
          <p:nvPr userDrawn="1"/>
        </p:nvSpPr>
        <p:spPr bwMode="auto">
          <a:xfrm flipH="1" flipV="1">
            <a:off x="8873419" y="11799"/>
            <a:ext cx="390639" cy="10274023"/>
          </a:xfrm>
          <a:prstGeom prst="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</p:sp>
      <p:sp>
        <p:nvSpPr>
          <p:cNvPr id="23" name="Прямоугольник 22"/>
          <p:cNvSpPr/>
          <p:nvPr userDrawn="1"/>
        </p:nvSpPr>
        <p:spPr bwMode="auto">
          <a:xfrm flipH="1" flipV="1">
            <a:off x="3959424" y="11808"/>
            <a:ext cx="1579711" cy="10274023"/>
          </a:xfrm>
          <a:prstGeom prst="rect">
            <a:avLst/>
          </a:prstGeom>
          <a:solidFill>
            <a:srgbClr val="6E9A26">
              <a:alpha val="41000"/>
            </a:srgbClr>
          </a:solidFill>
          <a:ln>
            <a:noFill/>
          </a:ln>
        </p:spPr>
      </p:sp>
      <p:sp>
        <p:nvSpPr>
          <p:cNvPr id="25" name="Прямоугольник 24"/>
          <p:cNvSpPr/>
          <p:nvPr userDrawn="1"/>
        </p:nvSpPr>
        <p:spPr bwMode="auto">
          <a:xfrm flipH="1" flipV="1">
            <a:off x="12588689" y="11813"/>
            <a:ext cx="2171931" cy="10274023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</p:sp>
      <p:sp>
        <p:nvSpPr>
          <p:cNvPr id="27" name="Прямоугольник 26"/>
          <p:cNvSpPr/>
          <p:nvPr userDrawn="1"/>
        </p:nvSpPr>
        <p:spPr bwMode="auto">
          <a:xfrm flipH="1" flipV="1">
            <a:off x="12660103" y="11813"/>
            <a:ext cx="585807" cy="10274023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</p:sp>
      <p:sp>
        <p:nvSpPr>
          <p:cNvPr id="28" name="Прямоугольник 27"/>
          <p:cNvSpPr/>
          <p:nvPr userDrawn="1"/>
        </p:nvSpPr>
        <p:spPr bwMode="auto">
          <a:xfrm flipH="1" flipV="1">
            <a:off x="7295295" y="11808"/>
            <a:ext cx="572051" cy="1027402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</p:sp>
      <p:sp>
        <p:nvSpPr>
          <p:cNvPr id="29" name="Прямоугольник 28"/>
          <p:cNvSpPr/>
          <p:nvPr userDrawn="1"/>
        </p:nvSpPr>
        <p:spPr bwMode="auto">
          <a:xfrm flipH="1" flipV="1">
            <a:off x="10627695" y="11809"/>
            <a:ext cx="638221" cy="10274023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</p:sp>
      <p:sp>
        <p:nvSpPr>
          <p:cNvPr id="26" name="Прямоугольник 25"/>
          <p:cNvSpPr/>
          <p:nvPr userDrawn="1"/>
        </p:nvSpPr>
        <p:spPr bwMode="auto">
          <a:xfrm flipH="1" flipV="1">
            <a:off x="4855230" y="-10013"/>
            <a:ext cx="1057423" cy="10292475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</p:sp>
      <p:sp>
        <p:nvSpPr>
          <p:cNvPr id="21" name="Прямоугольник 20"/>
          <p:cNvSpPr/>
          <p:nvPr userDrawn="1"/>
        </p:nvSpPr>
        <p:spPr bwMode="auto">
          <a:xfrm flipH="1" flipV="1">
            <a:off x="6289327" y="11813"/>
            <a:ext cx="851865" cy="10274023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4" name="Прямоугольник 43"/>
          <p:cNvSpPr/>
          <p:nvPr userDrawn="1"/>
        </p:nvSpPr>
        <p:spPr bwMode="auto">
          <a:xfrm flipH="1" flipV="1">
            <a:off x="14045737" y="11809"/>
            <a:ext cx="460507" cy="10274023"/>
          </a:xfrm>
          <a:prstGeom prst="rect">
            <a:avLst/>
          </a:prstGeom>
          <a:solidFill>
            <a:schemeClr val="bg1">
              <a:alpha val="58999"/>
            </a:schemeClr>
          </a:solidFill>
          <a:ln>
            <a:noFill/>
          </a:ln>
        </p:spPr>
      </p:sp>
      <p:sp>
        <p:nvSpPr>
          <p:cNvPr id="46" name="Прямоугольник 45"/>
          <p:cNvSpPr/>
          <p:nvPr userDrawn="1"/>
        </p:nvSpPr>
        <p:spPr bwMode="auto">
          <a:xfrm flipH="1" flipV="1">
            <a:off x="4194879" y="11811"/>
            <a:ext cx="91437" cy="10274023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5" name="Прямоугольник 44"/>
          <p:cNvSpPr/>
          <p:nvPr userDrawn="1"/>
        </p:nvSpPr>
        <p:spPr bwMode="auto">
          <a:xfrm>
            <a:off x="3671391" y="2767235"/>
            <a:ext cx="11665296" cy="5508612"/>
          </a:xfrm>
          <a:prstGeom prst="rect">
            <a:avLst/>
          </a:prstGeom>
          <a:solidFill>
            <a:schemeClr val="bg1"/>
          </a:solidFill>
          <a:ln w="57150" cap="rnd"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4749279" y="6115607"/>
            <a:ext cx="9296457" cy="1728191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cap="none" spc="119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Образец подзаголовка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4772391" y="3307295"/>
            <a:ext cx="9273345" cy="2376263"/>
          </a:xfrm>
        </p:spPr>
        <p:txBody>
          <a:bodyPr>
            <a:normAutofit/>
          </a:bodyPr>
          <a:lstStyle>
            <a:lvl1pPr algn="ctr">
              <a:defRPr sz="4000" cap="small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cxnSp>
        <p:nvCxnSpPr>
          <p:cNvPr id="49" name="Прямая соединительная линия 48"/>
          <p:cNvCxnSpPr>
            <a:cxnSpLocks/>
          </p:cNvCxnSpPr>
          <p:nvPr userDrawn="1"/>
        </p:nvCxnSpPr>
        <p:spPr bwMode="auto">
          <a:xfrm>
            <a:off x="4749279" y="5899583"/>
            <a:ext cx="4319460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 userDrawn="1"/>
        </p:nvSpPr>
        <p:spPr bwMode="auto">
          <a:xfrm>
            <a:off x="9259229" y="5844131"/>
            <a:ext cx="144015" cy="108013"/>
          </a:xfrm>
          <a:prstGeom prst="ellipse">
            <a:avLst/>
          </a:prstGeom>
          <a:solidFill>
            <a:srgbClr val="6E9A26"/>
          </a:solidFill>
          <a:ln>
            <a:noFill/>
          </a:ln>
          <a:effectLst/>
        </p:spPr>
      </p:sp>
      <p:cxnSp>
        <p:nvCxnSpPr>
          <p:cNvPr id="54" name="Прямая соединительная линия 53"/>
          <p:cNvCxnSpPr>
            <a:cxnSpLocks/>
          </p:cNvCxnSpPr>
          <p:nvPr userDrawn="1"/>
        </p:nvCxnSpPr>
        <p:spPr bwMode="auto">
          <a:xfrm>
            <a:off x="9576047" y="5898137"/>
            <a:ext cx="4507591" cy="1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1444626" y="1795127"/>
            <a:ext cx="15544800" cy="7344815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</p:spPr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914400" y="1795129"/>
            <a:ext cx="8077199" cy="7394115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9296399" y="1795129"/>
            <a:ext cx="8077199" cy="7394115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14400" y="1903140"/>
            <a:ext cx="8080375" cy="959643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914400" y="3091273"/>
            <a:ext cx="8080375" cy="6097971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9290052" y="1903140"/>
            <a:ext cx="8083549" cy="959643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9290052" y="3091273"/>
            <a:ext cx="8083549" cy="6097971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50099" y="1795129"/>
            <a:ext cx="10223499" cy="739411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914401" y="1795127"/>
            <a:ext cx="6016626" cy="73941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</p:spPr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3584575" y="1795127"/>
            <a:ext cx="10972800" cy="51845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584575" y="7303739"/>
            <a:ext cx="10972800" cy="1954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</p:spPr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13258800" y="411957"/>
            <a:ext cx="4114800" cy="8777287"/>
          </a:xfrm>
        </p:spPr>
        <p:txBody>
          <a:bodyPr vert="eaVert"/>
          <a:lstStyle/>
          <a:p>
            <a:pPr>
              <a:defRPr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411957"/>
            <a:ext cx="12039599" cy="8777287"/>
          </a:xfrm>
        </p:spPr>
        <p:txBody>
          <a:bodyPr vert="eaVert"/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79103" y="2011151"/>
            <a:ext cx="16129791" cy="7452828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Образец текста</a:t>
            </a:r>
          </a:p>
          <a:p>
            <a:pPr lvl="1">
              <a:defRPr/>
            </a:pPr>
            <a:r>
              <a:t>Второй уровень</a:t>
            </a:r>
          </a:p>
          <a:p>
            <a:pPr lvl="2">
              <a:defRPr/>
            </a:pPr>
            <a:r>
              <a:t>Третий уровень</a:t>
            </a:r>
          </a:p>
          <a:p>
            <a:pPr lvl="3">
              <a:defRPr/>
            </a:pPr>
            <a:r>
              <a:t>Четвертый уровень</a:t>
            </a:r>
          </a:p>
          <a:p>
            <a:pPr lvl="4">
              <a:defRPr/>
            </a:pPr>
            <a:r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1079103" y="9663091"/>
            <a:ext cx="4267199" cy="54768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 lang="es-PE"/>
              <a:t>6/07/2026</a:t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1880303" y="9624749"/>
            <a:ext cx="5791199" cy="54768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Номер слайда 8"/>
          <p:cNvSpPr>
            <a:spLocks noGrp="1"/>
          </p:cNvSpPr>
          <p:nvPr>
            <p:ph type="sldNum" sz="quarter" idx="4"/>
          </p:nvPr>
        </p:nvSpPr>
        <p:spPr bwMode="auto">
          <a:xfrm>
            <a:off x="8267699" y="9680004"/>
            <a:ext cx="1752599" cy="438149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>
        <a:spcBef>
          <a:spcPts val="399"/>
        </a:spcBef>
        <a:buNone/>
        <a:defRPr sz="3600" b="0" cap="none" spc="0">
          <a:solidFill>
            <a:schemeClr val="bg1"/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599"/>
        </a:spcBef>
        <a:spcAft>
          <a:spcPts val="0"/>
        </a:spcAft>
        <a:buClr>
          <a:schemeClr val="accent1"/>
        </a:buClr>
        <a:buFont typeface="Arial"/>
        <a:buChar char="•"/>
        <a:defRPr sz="2200" b="0" i="0" cap="none" spc="29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513651" indent="-342900" algn="l" defTabSz="914400">
        <a:spcBef>
          <a:spcPts val="599"/>
        </a:spcBef>
        <a:buClr>
          <a:schemeClr val="accent1"/>
        </a:buClr>
        <a:buFont typeface="Times New Roman"/>
        <a:buChar char="–"/>
        <a:defRPr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627951" indent="-285750" algn="l" defTabSz="914400">
        <a:spcBef>
          <a:spcPts val="599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800988" indent="-285750" algn="l" defTabSz="914400">
        <a:spcBef>
          <a:spcPts val="599"/>
        </a:spcBef>
        <a:buClr>
          <a:schemeClr val="accent1"/>
        </a:buClr>
        <a:buFont typeface="Times New Roman"/>
        <a:buChar char="–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972438" indent="-285750" algn="l" defTabSz="914400">
        <a:spcBef>
          <a:spcPts val="599"/>
        </a:spcBef>
        <a:buClr>
          <a:schemeClr val="accent1"/>
        </a:buClr>
        <a:buFont typeface="Times New Roman"/>
        <a:buChar char="»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105156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1417319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 bwMode="auto">
          <a:xfrm>
            <a:off x="179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Freeform 5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15" name="Freeform 15"/>
          <p:cNvSpPr/>
          <p:nvPr/>
        </p:nvSpPr>
        <p:spPr bwMode="auto">
          <a:xfrm>
            <a:off x="1899748" y="2434062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 bwMode="auto">
          <a:xfrm>
            <a:off x="14231928" y="5696614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pic>
        <p:nvPicPr>
          <p:cNvPr id="31" name="Imagen 3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57200" y="495301"/>
            <a:ext cx="3429000" cy="748996"/>
          </a:xfrm>
          <a:prstGeom prst="rect">
            <a:avLst/>
          </a:prstGeom>
        </p:spPr>
      </p:pic>
      <p:sp>
        <p:nvSpPr>
          <p:cNvPr id="21" name="Freeform 7"/>
          <p:cNvSpPr/>
          <p:nvPr/>
        </p:nvSpPr>
        <p:spPr bwMode="auto">
          <a:xfrm flipH="1">
            <a:off x="3844087" y="2292642"/>
            <a:ext cx="11888208" cy="3869072"/>
          </a:xfrm>
          <a:custGeom>
            <a:avLst/>
            <a:gdLst/>
            <a:ahLst/>
            <a:cxnLst/>
            <a:rect l="l" t="t" r="r" b="b"/>
            <a:pathLst>
              <a:path w="14708603" h="4786982" extrusionOk="0">
                <a:moveTo>
                  <a:pt x="0" y="0"/>
                </a:moveTo>
                <a:lnTo>
                  <a:pt x="14708604" y="0"/>
                </a:lnTo>
                <a:lnTo>
                  <a:pt x="14708604" y="4786982"/>
                </a:lnTo>
                <a:lnTo>
                  <a:pt x="0" y="4786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22" name="TextBox 11"/>
          <p:cNvSpPr txBox="1"/>
          <p:nvPr/>
        </p:nvSpPr>
        <p:spPr bwMode="auto">
          <a:xfrm>
            <a:off x="3996486" y="2466826"/>
            <a:ext cx="9527898" cy="152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7"/>
              </a:lnSpc>
              <a:spcBef>
                <a:spcPts val="0"/>
              </a:spcBef>
              <a:defRPr/>
            </a:pPr>
            <a:r>
              <a:rPr lang="en-US" sz="9600" b="1" dirty="0" err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</a:rPr>
              <a:t>QuipuSoft</a:t>
            </a:r>
            <a:endParaRPr lang="en-US" sz="9600" b="1" dirty="0">
              <a:solidFill>
                <a:srgbClr val="FFFFFF"/>
              </a:solidFill>
              <a:latin typeface="Montserrat Heavy"/>
              <a:ea typeface="Montserrat Heavy"/>
              <a:cs typeface="Montserrat Heavy"/>
            </a:endParaRPr>
          </a:p>
        </p:txBody>
      </p:sp>
      <p:sp>
        <p:nvSpPr>
          <p:cNvPr id="23" name="TextBox 13"/>
          <p:cNvSpPr txBox="1"/>
          <p:nvPr/>
        </p:nvSpPr>
        <p:spPr bwMode="auto">
          <a:xfrm>
            <a:off x="190499" y="6627141"/>
            <a:ext cx="17911318" cy="54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sz="3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Agentes de IA para incentivar los hábitos de clasificación y reciclado doméstico</a:t>
            </a:r>
            <a:endParaRPr lang="es-PE" sz="3600" b="1">
              <a:solidFill>
                <a:srgbClr val="FFFFFF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24" name="CuadroTexto 23"/>
          <p:cNvSpPr txBox="1"/>
          <p:nvPr/>
        </p:nvSpPr>
        <p:spPr bwMode="auto">
          <a:xfrm rot="16199999">
            <a:off x="3803625" y="2829262"/>
            <a:ext cx="1402792" cy="82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MX" sz="4800" b="1">
                <a:solidFill>
                  <a:schemeClr val="bg1"/>
                </a:solidFill>
              </a:rPr>
              <a:t>2026</a:t>
            </a:r>
            <a:endParaRPr sz="4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496698" y="-2917972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0" name="Group 10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>
            <a:off x="0" y="8585012"/>
            <a:ext cx="8375085" cy="1701988"/>
            <a:chOff x="0" y="0"/>
            <a:chExt cx="2205784" cy="448260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2205784" cy="448260"/>
            </a:xfrm>
            <a:custGeom>
              <a:avLst/>
              <a:gdLst/>
              <a:ahLst/>
              <a:cxnLst/>
              <a:rect l="l" t="t" r="r" b="b"/>
              <a:pathLst>
                <a:path w="2205784" h="448260" extrusionOk="0">
                  <a:moveTo>
                    <a:pt x="0" y="0"/>
                  </a:moveTo>
                  <a:lnTo>
                    <a:pt x="2205784" y="0"/>
                  </a:lnTo>
                  <a:lnTo>
                    <a:pt x="2205784" y="448260"/>
                  </a:lnTo>
                  <a:lnTo>
                    <a:pt x="0" y="448260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2205784" cy="48636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>
            <a:off x="2177156" y="2595550"/>
            <a:ext cx="11768162" cy="97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MAKI</a:t>
            </a: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2177157" y="2564446"/>
            <a:ext cx="1193492" cy="47625"/>
            <a:chOff x="0" y="0"/>
            <a:chExt cx="314335" cy="12543"/>
          </a:xfrm>
        </p:grpSpPr>
        <p:sp>
          <p:nvSpPr>
            <p:cNvPr id="28" name="Freeform 28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 bwMode="auto">
          <a:xfrm>
            <a:off x="7296923" y="772403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31" name="TextBox 31"/>
          <p:cNvSpPr txBox="1"/>
          <p:nvPr/>
        </p:nvSpPr>
        <p:spPr bwMode="auto">
          <a:xfrm>
            <a:off x="609600" y="4580743"/>
            <a:ext cx="7162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PE" sz="2200" dirty="0">
                <a:solidFill>
                  <a:srgbClr val="FFFFFF"/>
                </a:solidFill>
                <a:ea typeface="Open Sans"/>
                <a:cs typeface="Open Sans"/>
              </a:rPr>
              <a:t>App con inteligencia artificial que convierte el reciclaje en una experiencia </a:t>
            </a:r>
            <a:r>
              <a:rPr lang="es-PE" sz="2200" dirty="0" err="1">
                <a:solidFill>
                  <a:srgbClr val="FFFFFF"/>
                </a:solidFill>
                <a:ea typeface="Open Sans"/>
                <a:cs typeface="Open Sans"/>
              </a:rPr>
              <a:t>gamificada</a:t>
            </a:r>
            <a:r>
              <a:rPr lang="es-PE" sz="2200" dirty="0">
                <a:solidFill>
                  <a:srgbClr val="FFFFFF"/>
                </a:solidFill>
                <a:ea typeface="Open Sans"/>
                <a:cs typeface="Open Sans"/>
              </a:rPr>
              <a:t>, conectando hogares con recolectores urbanos para impulsar una economía circular inclusiva en Latinoamérica</a:t>
            </a:r>
            <a:endParaRPr lang="es-PE" sz="2400" dirty="0">
              <a:solidFill>
                <a:srgbClr val="FFFFFF"/>
              </a:solidFill>
              <a:ea typeface="Open Sans"/>
              <a:cs typeface="Open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ADAC9C-6C9F-322D-190B-699A70C5B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613" y="571500"/>
            <a:ext cx="2600897" cy="5638800"/>
          </a:xfrm>
          <a:prstGeom prst="round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B70B196-E7B3-3F7A-B727-2D9880DB7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9847" y="1196828"/>
            <a:ext cx="2415076" cy="5235936"/>
          </a:xfrm>
          <a:prstGeom prst="round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091FC24-1D30-4ED6-3564-312E6B4B9ED0}"/>
              </a:ext>
            </a:extLst>
          </p:cNvPr>
          <p:cNvSpPr/>
          <p:nvPr/>
        </p:nvSpPr>
        <p:spPr>
          <a:xfrm>
            <a:off x="10686192" y="3390900"/>
            <a:ext cx="2222386" cy="662433"/>
          </a:xfrm>
          <a:prstGeom prst="roundRect">
            <a:avLst/>
          </a:prstGeom>
          <a:solidFill>
            <a:srgbClr val="F5F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C6A8989-E81E-1FA6-4C17-FFB42D825C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831779">
            <a:off x="15630977" y="5330744"/>
            <a:ext cx="2121878" cy="4597402"/>
          </a:xfrm>
          <a:prstGeom prst="round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AE8451A-A73C-0940-834C-6E4D5B3748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303078">
            <a:off x="13648475" y="4031748"/>
            <a:ext cx="2526596" cy="5474290"/>
          </a:xfrm>
          <a:prstGeom prst="round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 bwMode="auto">
          <a:xfrm>
            <a:off x="8103899" y="2395759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3" y="0"/>
                </a:lnTo>
                <a:lnTo>
                  <a:pt x="2156323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30" name="Freeform 30"/>
          <p:cNvSpPr/>
          <p:nvPr/>
        </p:nvSpPr>
        <p:spPr bwMode="auto">
          <a:xfrm>
            <a:off x="15369063" y="4211368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31" name="TextBox 31"/>
          <p:cNvSpPr txBox="1"/>
          <p:nvPr/>
        </p:nvSpPr>
        <p:spPr bwMode="auto">
          <a:xfrm>
            <a:off x="1822161" y="2713050"/>
            <a:ext cx="8008357" cy="1690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55"/>
              </a:lnSpc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DEEPCODERS</a:t>
            </a:r>
          </a:p>
        </p:txBody>
      </p:sp>
      <p:grpSp>
        <p:nvGrpSpPr>
          <p:cNvPr id="32" name="Group 32"/>
          <p:cNvGrpSpPr/>
          <p:nvPr/>
        </p:nvGrpSpPr>
        <p:grpSpPr bwMode="auto">
          <a:xfrm>
            <a:off x="1822163" y="2577171"/>
            <a:ext cx="1193492" cy="47625"/>
            <a:chOff x="0" y="0"/>
            <a:chExt cx="314335" cy="12543"/>
          </a:xfrm>
        </p:grpSpPr>
        <p:sp>
          <p:nvSpPr>
            <p:cNvPr id="33" name="Freeform 33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 bwMode="auto">
          <a:xfrm>
            <a:off x="1822161" y="5209753"/>
            <a:ext cx="9144000" cy="731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es-MX" sz="2200">
                <a:solidFill>
                  <a:srgbClr val="FFFFFF"/>
                </a:solidFill>
                <a:ea typeface="Open Sans"/>
                <a:cs typeface="Open Sans"/>
              </a:rPr>
              <a:t>Somos un equipo multidisciplinario que combina visión por computadora, IA generativa y gamificación para resolver problemas ambientales reales. Nuestra fortaleza: crear tecnología que empodera tanto al ciudadano como al recolector, generando impacto social y económico simultáneo.</a:t>
            </a:r>
            <a:endParaRPr/>
          </a:p>
          <a:p>
            <a:pPr>
              <a:spcBef>
                <a:spcPts val="0"/>
              </a:spcBef>
              <a:defRPr/>
            </a:pPr>
            <a:endParaRPr/>
          </a:p>
        </p:txBody>
      </p:sp>
      <p:pic>
        <p:nvPicPr>
          <p:cNvPr id="43" name="Google Shape;399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2115801" y="5414340"/>
            <a:ext cx="5284044" cy="4120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0" name="Group 10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>
            <a:off x="0" y="5143500"/>
            <a:ext cx="1329943" cy="5143500"/>
            <a:chOff x="0" y="0"/>
            <a:chExt cx="350273" cy="1354667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350273" cy="1354667"/>
            </a:xfrm>
            <a:custGeom>
              <a:avLst/>
              <a:gdLst/>
              <a:ahLst/>
              <a:cxnLst/>
              <a:rect l="l" t="t" r="r" b="b"/>
              <a:pathLst>
                <a:path w="350273" h="1354667" extrusionOk="0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350273" cy="139276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 bwMode="auto">
          <a:xfrm>
            <a:off x="16191165" y="4173897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27" name="TextBox 27"/>
          <p:cNvSpPr txBox="1"/>
          <p:nvPr/>
        </p:nvSpPr>
        <p:spPr bwMode="auto">
          <a:xfrm>
            <a:off x="2032002" y="2165212"/>
            <a:ext cx="7036516" cy="84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55"/>
              </a:lnSpc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INTRODUCCIÓN</a:t>
            </a:r>
          </a:p>
        </p:txBody>
      </p:sp>
      <p:grpSp>
        <p:nvGrpSpPr>
          <p:cNvPr id="28" name="Group 28"/>
          <p:cNvGrpSpPr/>
          <p:nvPr/>
        </p:nvGrpSpPr>
        <p:grpSpPr bwMode="auto">
          <a:xfrm>
            <a:off x="2032003" y="2029333"/>
            <a:ext cx="1193492" cy="47625"/>
            <a:chOff x="0" y="0"/>
            <a:chExt cx="314335" cy="12543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 bwMode="auto">
          <a:xfrm>
            <a:off x="2055889" y="3652250"/>
            <a:ext cx="9144000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es-MX" sz="2200">
                <a:solidFill>
                  <a:srgbClr val="FFFFFF"/>
                </a:solidFill>
                <a:ea typeface="Open Sans"/>
                <a:cs typeface="Open Sans"/>
              </a:rPr>
              <a:t>Cada año, Latinoamérica entierra millones de toneladas de residuos reciclables. En Perú, solo el 1.9% se recicla formalmente.
MAKI nace con una misión clara: democratizar el reciclaje usando la tecnología que ya está en el bolsillo de las personas —su smartphone— potenciada con inteligencia artificial.</a:t>
            </a:r>
            <a:endParaRPr/>
          </a:p>
        </p:txBody>
      </p:sp>
      <p:pic>
        <p:nvPicPr>
          <p:cNvPr id="36" name="Google Shape;425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2229775" y="6057901"/>
            <a:ext cx="5327975" cy="295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 descr="Este es el país de Sudamérica que más residuos plásticos arroja al océano,  según estudio: 1,3 millones de toneladas anuales | Brasil | contaminación  plástica | Ciencia | La República">
            <a:extLst>
              <a:ext uri="{FF2B5EF4-FFF2-40B4-BE49-F238E27FC236}">
                <a16:creationId xmlns:a16="http://schemas.microsoft.com/office/drawing/2014/main" id="{AEF7F899-CA8E-D9D3-42C0-404212A1E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3130" y="531153"/>
            <a:ext cx="4762500" cy="2800350"/>
          </a:xfrm>
          <a:prstGeom prst="roundRect">
            <a:avLst/>
          </a:prstGeom>
        </p:spPr>
      </p:pic>
      <p:pic>
        <p:nvPicPr>
          <p:cNvPr id="4" name="Imagen 3" descr="UNA LIMA SIN BASURA… ¿LA PUEDEN IMAGINAR? – Sinba">
            <a:extLst>
              <a:ext uri="{FF2B5EF4-FFF2-40B4-BE49-F238E27FC236}">
                <a16:creationId xmlns:a16="http://schemas.microsoft.com/office/drawing/2014/main" id="{802E2061-E3DB-328E-8E4D-7FE363866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3731" y="4242754"/>
            <a:ext cx="5323400" cy="2262445"/>
          </a:xfrm>
          <a:prstGeom prst="roundRect">
            <a:avLst/>
          </a:prstGeom>
        </p:spPr>
      </p:pic>
      <p:pic>
        <p:nvPicPr>
          <p:cNvPr id="5" name="Imagen 4" descr="TIPOS de RECICLAJE - Guía Práctica">
            <a:extLst>
              <a:ext uri="{FF2B5EF4-FFF2-40B4-BE49-F238E27FC236}">
                <a16:creationId xmlns:a16="http://schemas.microsoft.com/office/drawing/2014/main" id="{C699067E-C4CA-1F6D-E5F5-C9DAFFF98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4217" y="1544990"/>
            <a:ext cx="4762500" cy="3177193"/>
          </a:xfrm>
          <a:prstGeom prst="round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E39FF6-727F-FC90-A770-42D762369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574940" y="5811035"/>
            <a:ext cx="2713589" cy="2713589"/>
          </a:xfrm>
          <a:prstGeom prst="rect">
            <a:avLst/>
          </a:prstGeom>
        </p:spPr>
      </p:pic>
      <p:pic>
        <p:nvPicPr>
          <p:cNvPr id="13" name="Imagen 12" descr="Cuáles son los riesgos de usar un celular desactualizado?">
            <a:extLst>
              <a:ext uri="{FF2B5EF4-FFF2-40B4-BE49-F238E27FC236}">
                <a16:creationId xmlns:a16="http://schemas.microsoft.com/office/drawing/2014/main" id="{7B227F82-D02D-70A2-7772-E47BE26CC5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2078" y="6071519"/>
            <a:ext cx="4986798" cy="3324532"/>
          </a:xfrm>
          <a:prstGeom prst="round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 bwMode="auto">
          <a:xfrm>
            <a:off x="18081" y="1755887"/>
            <a:ext cx="591519" cy="6585871"/>
            <a:chOff x="0" y="0"/>
            <a:chExt cx="350273" cy="1734550"/>
          </a:xfrm>
        </p:grpSpPr>
        <p:sp>
          <p:nvSpPr>
            <p:cNvPr id="25" name="Freeform 25"/>
            <p:cNvSpPr/>
            <p:nvPr/>
          </p:nvSpPr>
          <p:spPr bwMode="auto">
            <a:xfrm>
              <a:off x="0" y="0"/>
              <a:ext cx="350273" cy="1734550"/>
            </a:xfrm>
            <a:custGeom>
              <a:avLst/>
              <a:gdLst/>
              <a:ahLst/>
              <a:cxnLst/>
              <a:rect l="l" t="t" r="r" b="b"/>
              <a:pathLst>
                <a:path w="350273" h="1734550" extrusionOk="0">
                  <a:moveTo>
                    <a:pt x="0" y="0"/>
                  </a:moveTo>
                  <a:lnTo>
                    <a:pt x="350273" y="0"/>
                  </a:lnTo>
                  <a:lnTo>
                    <a:pt x="350273" y="1734550"/>
                  </a:lnTo>
                  <a:lnTo>
                    <a:pt x="0" y="1734550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38100"/>
              <a:ext cx="350273" cy="17726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 bwMode="auto">
          <a:xfrm>
            <a:off x="5442845" y="739214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28" name="Freeform 28"/>
          <p:cNvSpPr/>
          <p:nvPr/>
        </p:nvSpPr>
        <p:spPr bwMode="auto">
          <a:xfrm>
            <a:off x="3019047" y="7269075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29" name="TextBox 29"/>
          <p:cNvSpPr txBox="1"/>
          <p:nvPr/>
        </p:nvSpPr>
        <p:spPr bwMode="auto">
          <a:xfrm>
            <a:off x="8470542" y="1059804"/>
            <a:ext cx="9056176" cy="1956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CONTEXTO DEL PROBLEMA</a:t>
            </a:r>
          </a:p>
        </p:txBody>
      </p:sp>
      <p:grpSp>
        <p:nvGrpSpPr>
          <p:cNvPr id="30" name="Group 30"/>
          <p:cNvGrpSpPr/>
          <p:nvPr/>
        </p:nvGrpSpPr>
        <p:grpSpPr bwMode="auto">
          <a:xfrm>
            <a:off x="8470543" y="1028700"/>
            <a:ext cx="1193492" cy="47625"/>
            <a:chOff x="0" y="0"/>
            <a:chExt cx="314335" cy="12543"/>
          </a:xfrm>
        </p:grpSpPr>
        <p:sp>
          <p:nvSpPr>
            <p:cNvPr id="31" name="Freeform 31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 bwMode="auto">
          <a:xfrm>
            <a:off x="8461501" y="3848099"/>
            <a:ext cx="7466465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/>
            </a:pPr>
            <a:r>
              <a:rPr lang="es-MX" sz="2000">
                <a:solidFill>
                  <a:srgbClr val="FFFFFF"/>
                </a:solidFill>
                <a:ea typeface="Open Sans"/>
                <a:cs typeface="Open Sans"/>
              </a:rPr>
              <a:t>1.  EDUCACIÓN</a:t>
            </a:r>
            <a:endParaRPr/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    El 70% no sabe clasificar residuos correctamente.</a:t>
            </a:r>
          </a:p>
          <a:p>
            <a:pPr algn="l">
              <a:spcAft>
                <a:spcPts val="400"/>
              </a:spcAft>
            </a:pPr>
            <a:endParaRPr sz="200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2.  LOGÍSTICA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    La recolección selectiva es escasa y desorganizada.</a:t>
            </a:r>
          </a:p>
          <a:p>
            <a:pPr algn="l">
              <a:spcAft>
                <a:spcPts val="400"/>
              </a:spcAft>
            </a:pPr>
            <a:endParaRPr sz="200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3.  CONFIANZA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    No hay transparencia en el valor real de los reciclables.</a:t>
            </a:r>
          </a:p>
        </p:txBody>
      </p:sp>
      <p:pic>
        <p:nvPicPr>
          <p:cNvPr id="49" name="Google Shape;404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938038" y="2895538"/>
            <a:ext cx="4452245" cy="383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Logística inversa, clave en los esfuerzos de la economía circular:  CIPRES-ANIQ – T21">
            <a:extLst>
              <a:ext uri="{FF2B5EF4-FFF2-40B4-BE49-F238E27FC236}">
                <a16:creationId xmlns:a16="http://schemas.microsoft.com/office/drawing/2014/main" id="{D4750A86-9FF6-AD3B-AC31-FE103C7A9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0251" y="6985992"/>
            <a:ext cx="4307452" cy="2577108"/>
          </a:xfrm>
          <a:prstGeom prst="roundRect">
            <a:avLst/>
          </a:prstGeom>
        </p:spPr>
      </p:pic>
      <p:pic>
        <p:nvPicPr>
          <p:cNvPr id="7" name="Imagen 6" descr="📈 Actualización de precios Hasta fin de año: ♻️ Cartón: $100 ♻️ PET  cristal: $210 ♻️ Film: $70 Seguimos acompañando y valorando cada material  que ingresa. Cualquier consulta, escribinos 💬 #Circularity #Reciclaje  #PreciosActualizados ...">
            <a:extLst>
              <a:ext uri="{FF2B5EF4-FFF2-40B4-BE49-F238E27FC236}">
                <a16:creationId xmlns:a16="http://schemas.microsoft.com/office/drawing/2014/main" id="{16ADE02C-2542-F6AA-7D42-29079D402C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421"/>
          <a:stretch>
            <a:fillRect/>
          </a:stretch>
        </p:blipFill>
        <p:spPr>
          <a:xfrm>
            <a:off x="8975503" y="7269075"/>
            <a:ext cx="2789110" cy="2786940"/>
          </a:xfrm>
          <a:prstGeom prst="roundRect">
            <a:avLst/>
          </a:prstGeom>
        </p:spPr>
      </p:pic>
      <p:pic>
        <p:nvPicPr>
          <p:cNvPr id="8" name="Imagen 7" descr="Jóvenes Clasificando Residuos, Perplejos Ante Contenedores De Reciclaje,  Sin Saber Cómo Separar La Basura, Vector Ilustración del Vector -  Ilustración de cosmético, confuso: 207321434">
            <a:extLst>
              <a:ext uri="{FF2B5EF4-FFF2-40B4-BE49-F238E27FC236}">
                <a16:creationId xmlns:a16="http://schemas.microsoft.com/office/drawing/2014/main" id="{18A19E72-B1C5-AC82-A477-77D56462D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39469" y="2265486"/>
            <a:ext cx="3294082" cy="3294082"/>
          </a:xfrm>
          <a:prstGeom prst="round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4" name="Group 14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 bwMode="auto">
          <a:xfrm>
            <a:off x="8924756" y="784706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34" name="Freeform 34"/>
          <p:cNvSpPr/>
          <p:nvPr/>
        </p:nvSpPr>
        <p:spPr bwMode="auto">
          <a:xfrm>
            <a:off x="13866595" y="7345970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3" y="0"/>
                </a:lnTo>
                <a:lnTo>
                  <a:pt x="2156323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35" name="TextBox 35"/>
          <p:cNvSpPr txBox="1"/>
          <p:nvPr/>
        </p:nvSpPr>
        <p:spPr bwMode="auto">
          <a:xfrm>
            <a:off x="2125298" y="2378232"/>
            <a:ext cx="6114848" cy="97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SOLUCIÓN</a:t>
            </a:r>
          </a:p>
        </p:txBody>
      </p:sp>
      <p:grpSp>
        <p:nvGrpSpPr>
          <p:cNvPr id="36" name="Group 36"/>
          <p:cNvGrpSpPr/>
          <p:nvPr/>
        </p:nvGrpSpPr>
        <p:grpSpPr bwMode="auto">
          <a:xfrm>
            <a:off x="2125299" y="2347127"/>
            <a:ext cx="1193492" cy="47625"/>
            <a:chOff x="0" y="0"/>
            <a:chExt cx="314335" cy="12543"/>
          </a:xfrm>
        </p:grpSpPr>
        <p:sp>
          <p:nvSpPr>
            <p:cNvPr id="37" name="Freeform 37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38" name="TextBox 38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 bwMode="auto">
          <a:xfrm>
            <a:off x="2125298" y="4232599"/>
            <a:ext cx="9144000" cy="731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/>
            </a:pPr>
            <a:r>
              <a:rPr lang="es-MX" sz="2000" dirty="0">
                <a:solidFill>
                  <a:srgbClr val="FFFFFF"/>
                </a:solidFill>
                <a:ea typeface="Open Sans"/>
                <a:cs typeface="Open Sans"/>
              </a:rPr>
              <a:t>ECO-HÉROES</a:t>
            </a:r>
            <a:endParaRPr dirty="0"/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  </a:t>
            </a:r>
            <a:r>
              <a:rPr sz="2000" dirty="0" err="1">
                <a:solidFill>
                  <a:srgbClr val="FFFFFF"/>
                </a:solidFill>
              </a:rPr>
              <a:t>Escanean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residuos</a:t>
            </a:r>
            <a:r>
              <a:rPr sz="2000" dirty="0">
                <a:solidFill>
                  <a:srgbClr val="FFFFFF"/>
                </a:solidFill>
              </a:rPr>
              <a:t> con la </a:t>
            </a:r>
            <a:r>
              <a:rPr sz="2000" dirty="0" err="1">
                <a:solidFill>
                  <a:srgbClr val="FFFFFF"/>
                </a:solidFill>
              </a:rPr>
              <a:t>cámara</a:t>
            </a:r>
            <a:r>
              <a:rPr sz="2000" dirty="0">
                <a:solidFill>
                  <a:srgbClr val="FFFFFF"/>
                </a:solidFill>
              </a:rPr>
              <a:t>. La IA </a:t>
            </a:r>
            <a:r>
              <a:rPr sz="2000" dirty="0" err="1">
                <a:solidFill>
                  <a:srgbClr val="FFFFFF"/>
                </a:solidFill>
              </a:rPr>
              <a:t>identifica</a:t>
            </a:r>
            <a:endParaRPr sz="2000" dirty="0">
              <a:solidFill>
                <a:srgbClr val="FFFFFF"/>
              </a:solidFill>
            </a:endParaRP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  </a:t>
            </a:r>
            <a:r>
              <a:rPr sz="2000" dirty="0" err="1">
                <a:solidFill>
                  <a:srgbClr val="FFFFFF"/>
                </a:solidFill>
              </a:rPr>
              <a:t>materiales</a:t>
            </a:r>
            <a:r>
              <a:rPr sz="2000" dirty="0">
                <a:solidFill>
                  <a:srgbClr val="FFFFFF"/>
                </a:solidFill>
              </a:rPr>
              <a:t> (PET, </a:t>
            </a:r>
            <a:r>
              <a:rPr sz="2000" dirty="0" err="1">
                <a:solidFill>
                  <a:srgbClr val="FFFFFF"/>
                </a:solidFill>
              </a:rPr>
              <a:t>aluminio</a:t>
            </a:r>
            <a:r>
              <a:rPr sz="2000" dirty="0">
                <a:solidFill>
                  <a:srgbClr val="FFFFFF"/>
                </a:solidFill>
              </a:rPr>
              <a:t>, </a:t>
            </a:r>
            <a:r>
              <a:rPr sz="2000" dirty="0" err="1">
                <a:solidFill>
                  <a:srgbClr val="FFFFFF"/>
                </a:solidFill>
              </a:rPr>
              <a:t>vidrio</a:t>
            </a:r>
            <a:r>
              <a:rPr sz="2000" dirty="0">
                <a:solidFill>
                  <a:srgbClr val="FFFFFF"/>
                </a:solidFill>
              </a:rPr>
              <a:t>, </a:t>
            </a:r>
            <a:r>
              <a:rPr sz="2000" dirty="0" err="1">
                <a:solidFill>
                  <a:srgbClr val="FFFFFF"/>
                </a:solidFill>
              </a:rPr>
              <a:t>cartón</a:t>
            </a:r>
            <a:r>
              <a:rPr sz="2000" dirty="0">
                <a:solidFill>
                  <a:srgbClr val="FFFFFF"/>
                </a:solidFill>
              </a:rPr>
              <a:t>, </a:t>
            </a:r>
            <a:r>
              <a:rPr sz="2000" dirty="0" err="1">
                <a:solidFill>
                  <a:srgbClr val="FFFFFF"/>
                </a:solidFill>
              </a:rPr>
              <a:t>pilas</a:t>
            </a:r>
            <a:r>
              <a:rPr sz="2000" dirty="0">
                <a:solidFill>
                  <a:srgbClr val="FFFFFF"/>
                </a:solidFill>
              </a:rPr>
              <a:t>),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  </a:t>
            </a:r>
            <a:r>
              <a:rPr sz="2000" dirty="0" err="1">
                <a:solidFill>
                  <a:srgbClr val="FFFFFF"/>
                </a:solidFill>
              </a:rPr>
              <a:t>evalúa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calidad</a:t>
            </a:r>
            <a:r>
              <a:rPr sz="2000" dirty="0">
                <a:solidFill>
                  <a:srgbClr val="FFFFFF"/>
                </a:solidFill>
              </a:rPr>
              <a:t> y </a:t>
            </a:r>
            <a:r>
              <a:rPr sz="2000" dirty="0" err="1">
                <a:solidFill>
                  <a:srgbClr val="FFFFFF"/>
                </a:solidFill>
              </a:rPr>
              <a:t>asigna</a:t>
            </a:r>
            <a:r>
              <a:rPr sz="2000" dirty="0">
                <a:solidFill>
                  <a:srgbClr val="FFFFFF"/>
                </a:solidFill>
              </a:rPr>
              <a:t> Eco-Puntos </a:t>
            </a:r>
            <a:r>
              <a:rPr sz="2000" dirty="0" err="1">
                <a:solidFill>
                  <a:srgbClr val="FFFFFF"/>
                </a:solidFill>
              </a:rPr>
              <a:t>automáticamente</a:t>
            </a:r>
            <a:r>
              <a:rPr sz="20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  </a:t>
            </a:r>
            <a:r>
              <a:rPr sz="2000" dirty="0" err="1">
                <a:solidFill>
                  <a:srgbClr val="FFFFFF"/>
                </a:solidFill>
              </a:rPr>
              <a:t>Canjeables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por</a:t>
            </a:r>
            <a:r>
              <a:rPr sz="2000" dirty="0">
                <a:solidFill>
                  <a:srgbClr val="FFFFFF"/>
                </a:solidFill>
              </a:rPr>
              <a:t> dinero </a:t>
            </a:r>
            <a:r>
              <a:rPr sz="2000" dirty="0" err="1">
                <a:solidFill>
                  <a:srgbClr val="FFFFFF"/>
                </a:solidFill>
              </a:rPr>
              <a:t>vía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Yape</a:t>
            </a:r>
            <a:r>
              <a:rPr sz="2000" dirty="0">
                <a:solidFill>
                  <a:srgbClr val="FFFFFF"/>
                </a:solidFill>
              </a:rPr>
              <a:t>/</a:t>
            </a:r>
            <a:r>
              <a:rPr sz="2000" dirty="0" err="1">
                <a:solidFill>
                  <a:srgbClr val="FFFFFF"/>
                </a:solidFill>
              </a:rPr>
              <a:t>Plin</a:t>
            </a:r>
            <a:r>
              <a:rPr sz="20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200"/>
              </a:spcAft>
            </a:pPr>
            <a:endParaRPr sz="2000" dirty="0">
              <a:solidFill>
                <a:srgbClr val="FFFFFF"/>
              </a:solidFill>
            </a:endParaRP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ECO-RIDERS</a:t>
            </a: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  </a:t>
            </a:r>
            <a:r>
              <a:rPr sz="2000" dirty="0" err="1">
                <a:solidFill>
                  <a:srgbClr val="FFFFFF"/>
                </a:solidFill>
              </a:rPr>
              <a:t>Reciben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rutas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optimizadas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en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mapa</a:t>
            </a:r>
            <a:r>
              <a:rPr sz="2000" dirty="0">
                <a:solidFill>
                  <a:srgbClr val="FFFFFF"/>
                </a:solidFill>
              </a:rPr>
              <a:t>, </a:t>
            </a:r>
            <a:r>
              <a:rPr sz="2000" dirty="0" err="1">
                <a:solidFill>
                  <a:srgbClr val="FFFFFF"/>
                </a:solidFill>
              </a:rPr>
              <a:t>confirman</a:t>
            </a:r>
            <a:endParaRPr sz="2000" dirty="0">
              <a:solidFill>
                <a:srgbClr val="FFFFFF"/>
              </a:solidFill>
            </a:endParaRPr>
          </a:p>
          <a:p>
            <a:pPr algn="l">
              <a:spcAft>
                <a:spcPts val="200"/>
              </a:spcAft>
            </a:pPr>
            <a:r>
              <a:rPr sz="2000" dirty="0">
                <a:solidFill>
                  <a:srgbClr val="FFFFFF"/>
                </a:solidFill>
              </a:rPr>
              <a:t>  </a:t>
            </a:r>
            <a:r>
              <a:rPr sz="2000" dirty="0" err="1">
                <a:solidFill>
                  <a:srgbClr val="FFFFFF"/>
                </a:solidFill>
              </a:rPr>
              <a:t>recolecciones</a:t>
            </a:r>
            <a:r>
              <a:rPr sz="2000" dirty="0">
                <a:solidFill>
                  <a:srgbClr val="FFFFFF"/>
                </a:solidFill>
              </a:rPr>
              <a:t> y </a:t>
            </a:r>
            <a:r>
              <a:rPr sz="2000" dirty="0" err="1">
                <a:solidFill>
                  <a:srgbClr val="FFFFFF"/>
                </a:solidFill>
              </a:rPr>
              <a:t>generan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ingresos</a:t>
            </a:r>
            <a:r>
              <a:rPr sz="2000" dirty="0">
                <a:solidFill>
                  <a:srgbClr val="FFFFFF"/>
                </a:solidFill>
              </a:rPr>
              <a:t> </a:t>
            </a:r>
            <a:r>
              <a:rPr sz="2000" dirty="0" err="1">
                <a:solidFill>
                  <a:srgbClr val="FFFFFF"/>
                </a:solidFill>
              </a:rPr>
              <a:t>justos</a:t>
            </a:r>
            <a:r>
              <a:rPr sz="20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253586-8819-101E-10AE-367B01070A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525" y="449816"/>
            <a:ext cx="2043332" cy="4427220"/>
          </a:xfrm>
          <a:prstGeom prst="round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E2943D1-8A01-D8BC-45E9-194E53E358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695" y="4443261"/>
            <a:ext cx="2347938" cy="5087201"/>
          </a:xfrm>
          <a:prstGeom prst="round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92A2E6E-463D-F322-96DB-CBF7E2AE3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10442103" y="418642"/>
            <a:ext cx="2043332" cy="4427221"/>
          </a:xfrm>
          <a:prstGeom prst="round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0D3C0E5-B1B9-B082-7D1D-673A81E254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91202" y="4629711"/>
            <a:ext cx="2347939" cy="5087202"/>
          </a:xfrm>
          <a:prstGeom prst="round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 bwMode="auto">
          <a:xfrm>
            <a:off x="15136792" y="3975808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8" name="TextBox 48"/>
          <p:cNvSpPr txBox="1"/>
          <p:nvPr/>
        </p:nvSpPr>
        <p:spPr bwMode="auto">
          <a:xfrm>
            <a:off x="4765981" y="1814278"/>
            <a:ext cx="8756754" cy="97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BENEFICIOS E IMPACTO</a:t>
            </a:r>
          </a:p>
        </p:txBody>
      </p:sp>
      <p:grpSp>
        <p:nvGrpSpPr>
          <p:cNvPr id="49" name="Group 49"/>
          <p:cNvGrpSpPr/>
          <p:nvPr/>
        </p:nvGrpSpPr>
        <p:grpSpPr bwMode="auto">
          <a:xfrm>
            <a:off x="8547254" y="1783174"/>
            <a:ext cx="1193492" cy="47625"/>
            <a:chOff x="0" y="0"/>
            <a:chExt cx="314335" cy="12543"/>
          </a:xfrm>
        </p:grpSpPr>
        <p:sp>
          <p:nvSpPr>
            <p:cNvPr id="50" name="Freeform 50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51" name="TextBox 51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52" name="TextBox 42"/>
          <p:cNvSpPr txBox="1"/>
          <p:nvPr/>
        </p:nvSpPr>
        <p:spPr bwMode="auto">
          <a:xfrm>
            <a:off x="2133599" y="3600954"/>
            <a:ext cx="9144000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/>
            </a:pPr>
            <a:r>
              <a:rPr lang="es-MX" sz="1800">
                <a:solidFill>
                  <a:srgbClr val="FFFFFF"/>
                </a:solidFill>
                <a:ea typeface="Open Sans"/>
                <a:cs typeface="Open Sans"/>
              </a:rPr>
              <a:t>AMBIENTAL</a:t>
            </a:r>
            <a:endParaRPr/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Cada Eco-Punto = material que no llega al relleno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sanitario. Reducción medible de huella de carbono.</a:t>
            </a:r>
          </a:p>
          <a:p>
            <a:pPr algn="l">
              <a:spcAft>
                <a:spcPts val="200"/>
              </a:spcAft>
            </a:pPr>
            <a:endParaRPr sz="1800">
              <a:solidFill>
                <a:srgbClr val="FFFFFF"/>
              </a:solidFill>
            </a:endParaRP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SOCIAL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Gamificación que crea hábitos: rachas,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rankings vecinales y retos semanales.</a:t>
            </a:r>
          </a:p>
          <a:p>
            <a:pPr algn="l">
              <a:spcAft>
                <a:spcPts val="200"/>
              </a:spcAft>
            </a:pPr>
            <a:endParaRPr sz="1800">
              <a:solidFill>
                <a:srgbClr val="FFFFFF"/>
              </a:solidFill>
            </a:endParaRP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ECONÓMICO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Recolectores con ingresos dignos y precios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transparentes del mercado en tiempo real.</a:t>
            </a:r>
          </a:p>
          <a:p>
            <a:pPr algn="l">
              <a:spcAft>
                <a:spcPts val="200"/>
              </a:spcAft>
            </a:pPr>
            <a:endParaRPr sz="1800">
              <a:solidFill>
                <a:srgbClr val="FFFFFF"/>
              </a:solidFill>
            </a:endParaRP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TECNOLÓGICO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Visión por computadora + IA generativa</a:t>
            </a:r>
          </a:p>
          <a:p>
            <a:pPr algn="l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+ mapas libres (OpenStreetMap).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3A404F-08AC-7E1E-47C4-065EEC7A1A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05" y="2757832"/>
            <a:ext cx="2437508" cy="5281268"/>
          </a:xfrm>
          <a:prstGeom prst="round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621891-F643-CA92-6D14-980C6A2553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604" y="2799396"/>
            <a:ext cx="2354740" cy="5101936"/>
          </a:xfrm>
          <a:prstGeom prst="round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B74EB3-B387-E54E-B6E0-E3EBA3874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5088" y="2724986"/>
            <a:ext cx="2559774" cy="5546178"/>
          </a:xfrm>
          <a:prstGeom prst="round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16228CD-9C89-54DC-D7DF-9DAB0BEBE7F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964" y="2675300"/>
            <a:ext cx="2513692" cy="5446332"/>
          </a:xfrm>
          <a:prstGeom prst="round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0053D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 bwMode="auto">
          <a:xfrm>
            <a:off x="1541647" y="1337049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25" name="Freeform 25"/>
          <p:cNvSpPr/>
          <p:nvPr/>
        </p:nvSpPr>
        <p:spPr bwMode="auto">
          <a:xfrm>
            <a:off x="8391493" y="7101976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26" name="TextBox 26"/>
          <p:cNvSpPr txBox="1"/>
          <p:nvPr/>
        </p:nvSpPr>
        <p:spPr bwMode="auto">
          <a:xfrm>
            <a:off x="11589805" y="2939749"/>
            <a:ext cx="4332684" cy="97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CIERRE</a:t>
            </a: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11589806" y="2908645"/>
            <a:ext cx="1193492" cy="47625"/>
            <a:chOff x="0" y="0"/>
            <a:chExt cx="314335" cy="12543"/>
          </a:xfrm>
        </p:grpSpPr>
        <p:sp>
          <p:nvSpPr>
            <p:cNvPr id="28" name="Freeform 28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 bwMode="auto">
          <a:xfrm>
            <a:off x="11589806" y="4814266"/>
            <a:ext cx="5486400" cy="1097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es-MX" sz="2200">
                <a:solidFill>
                  <a:srgbClr val="FFFFFF"/>
                </a:solidFill>
                <a:ea typeface="Open Sans"/>
                <a:cs typeface="Open Sans"/>
              </a:rPr>
              <a:t>MAKI demuestra que el reciclaje puede ser eficiente, transparente y gratificante. Convertimos un problema ambiental en una oportunidad económica para todos.
Esta no es solo una app: es el primer paso hacia una economía circular impulsada por inteligencia artificial.
Únete a la revolución del reciclaje inteligente.</a:t>
            </a:r>
            <a:endParaRPr/>
          </a:p>
        </p:txBody>
      </p:sp>
      <p:pic>
        <p:nvPicPr>
          <p:cNvPr id="38" name="Google Shape;427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3067" y="7056540"/>
            <a:ext cx="4270279" cy="3216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A211A7D-9594-63E2-86F1-D42897FF64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16" y="364670"/>
            <a:ext cx="1875969" cy="4064600"/>
          </a:xfrm>
          <a:prstGeom prst="round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214DB17-B49C-7B54-23F0-CBCCD9D424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809" y="262999"/>
            <a:ext cx="1969819" cy="4267941"/>
          </a:xfrm>
          <a:prstGeom prst="round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CCE1EBC-DE38-08C5-A24F-665D4EEDB2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112" y="192232"/>
            <a:ext cx="2127308" cy="4609168"/>
          </a:xfrm>
          <a:prstGeom prst="round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1F74A66-E606-6809-0BD5-3ECD47B47CA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663" y="262999"/>
            <a:ext cx="2131449" cy="4618140"/>
          </a:xfrm>
          <a:prstGeom prst="round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E10C504-17D8-2DE7-524B-FF959B695AB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049" y="5143500"/>
            <a:ext cx="2066199" cy="4476764"/>
          </a:xfrm>
          <a:prstGeom prst="round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E9A2533F-6D68-291B-EF99-22FA6178AD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9202" y="5132472"/>
            <a:ext cx="2252833" cy="4881138"/>
          </a:xfrm>
          <a:prstGeom prst="round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 bwMode="auto">
          <a:xfrm>
            <a:off x="-11624" y="-48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 bwMode="auto">
          <a:xfrm>
            <a:off x="673429" y="479195"/>
            <a:ext cx="274427" cy="260018"/>
          </a:xfrm>
          <a:custGeom>
            <a:avLst/>
            <a:gdLst/>
            <a:ahLst/>
            <a:cxnLst/>
            <a:rect l="l" t="t" r="r" b="b"/>
            <a:pathLst>
              <a:path w="274427" h="260019" extrusionOk="0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/>
          </a:blipFill>
        </p:spPr>
        <p:txBody>
          <a:bodyPr/>
          <a:lstStyle/>
          <a:p>
            <a:endParaRPr lang="es-PE" dirty="0"/>
          </a:p>
        </p:txBody>
      </p:sp>
      <p:sp>
        <p:nvSpPr>
          <p:cNvPr id="5" name="Freeform 5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6" name="Group 6"/>
          <p:cNvGrpSpPr/>
          <p:nvPr/>
        </p:nvGrpSpPr>
        <p:grpSpPr bwMode="auto"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 bwMode="auto"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 extrusionOk="0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38100"/>
              <a:ext cx="128243" cy="474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 extrusionOk="0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28243" cy="474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 dirty="0"/>
            </a:p>
          </p:txBody>
        </p:sp>
      </p:grpSp>
      <p:grpSp>
        <p:nvGrpSpPr>
          <p:cNvPr id="12" name="Group 12"/>
          <p:cNvGrpSpPr/>
          <p:nvPr/>
        </p:nvGrpSpPr>
        <p:grpSpPr bwMode="auto">
          <a:xfrm>
            <a:off x="2977910" y="3512224"/>
            <a:ext cx="12332180" cy="2527676"/>
            <a:chOff x="0" y="0"/>
            <a:chExt cx="3247982" cy="859273"/>
          </a:xfrm>
        </p:grpSpPr>
        <p:sp>
          <p:nvSpPr>
            <p:cNvPr id="13" name="Freeform 13"/>
            <p:cNvSpPr/>
            <p:nvPr/>
          </p:nvSpPr>
          <p:spPr bwMode="auto">
            <a:xfrm>
              <a:off x="0" y="0"/>
              <a:ext cx="3247982" cy="859273"/>
            </a:xfrm>
            <a:custGeom>
              <a:avLst/>
              <a:gdLst/>
              <a:ahLst/>
              <a:cxnLst/>
              <a:rect l="l" t="t" r="r" b="b"/>
              <a:pathLst>
                <a:path w="3247982" h="859273" extrusionOk="0">
                  <a:moveTo>
                    <a:pt x="0" y="0"/>
                  </a:moveTo>
                  <a:lnTo>
                    <a:pt x="3247982" y="0"/>
                  </a:lnTo>
                  <a:lnTo>
                    <a:pt x="3247982" y="859273"/>
                  </a:lnTo>
                  <a:lnTo>
                    <a:pt x="0" y="8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 scaled="1"/>
              </a:gradFill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247982" cy="89737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 bwMode="auto">
          <a:xfrm>
            <a:off x="1899748" y="2434062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endParaRPr lang="es-PE"/>
          </a:p>
        </p:txBody>
      </p:sp>
      <p:sp>
        <p:nvSpPr>
          <p:cNvPr id="17" name="Freeform 17"/>
          <p:cNvSpPr/>
          <p:nvPr/>
        </p:nvSpPr>
        <p:spPr bwMode="auto">
          <a:xfrm>
            <a:off x="14231928" y="5044576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endParaRPr lang="es-PE"/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9" name="TextBox 12"/>
          <p:cNvSpPr txBox="1"/>
          <p:nvPr/>
        </p:nvSpPr>
        <p:spPr bwMode="auto">
          <a:xfrm>
            <a:off x="3631963" y="3800297"/>
            <a:ext cx="10922954" cy="185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567"/>
              </a:lnSpc>
              <a:spcBef>
                <a:spcPts val="0"/>
              </a:spcBef>
              <a:defRPr/>
            </a:pPr>
            <a:r>
              <a:rPr lang="en-US" sz="104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</a:rPr>
              <a:t>GRACIAS!</a:t>
            </a: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806069" y="7301185"/>
            <a:ext cx="3429000" cy="74899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Green leaf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Классическая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OHO">
      <a:fillStyleLst>
        <a:solidFill>
          <a:schemeClr val="phClr"/>
        </a:solidFill>
        <a:gradFill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/>
        </a:gradFill>
        <a:blipFill>
          <a:blip xmlns:r="http://schemas.openxmlformats.org/officeDocument/2006/relationships"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380</Words>
  <Application>Microsoft Office PowerPoint</Application>
  <DocSecurity>0</DocSecurity>
  <PresentationFormat>Personalizado</PresentationFormat>
  <Paragraphs>56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Open Sans</vt:lpstr>
      <vt:lpstr>Calibri</vt:lpstr>
      <vt:lpstr>Montserrat Heavy</vt:lpstr>
      <vt:lpstr>Times New Roman</vt:lpstr>
      <vt:lpstr>TT Supermolot Neue Expanded Bold</vt:lpstr>
      <vt:lpstr>Montserrat Medium</vt:lpstr>
      <vt:lpstr>Green leaf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Purple Futuristic Technology Presentation</dc:title>
  <dc:subject/>
  <dc:creator>Marco Nureña Asencio</dc:creator>
  <cp:keywords/>
  <dc:description/>
  <cp:lastModifiedBy>Marco Nureña Asencio</cp:lastModifiedBy>
  <cp:revision>9</cp:revision>
  <dcterms:created xsi:type="dcterms:W3CDTF">2006-08-16T00:00:00Z</dcterms:created>
  <dcterms:modified xsi:type="dcterms:W3CDTF">2026-07-06T07:58:41Z</dcterms:modified>
  <cp:category/>
  <dc:identifier>DAGQ3fa1hZk</dc:identifier>
  <cp:contentStatus/>
  <dc:language/>
  <cp:version/>
</cp:coreProperties>
</file>