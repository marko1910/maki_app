
<file path=[Content_Types].xml><?xml version="1.0" encoding="utf-8"?>
<Types xmlns="http://schemas.openxmlformats.org/package/2006/content-types">
  <Default Extension="jpg" ContentType="image/jpeg"/>
  <Default Extension="wmf" ContentType="image/x-wmf"/>
  <Default Extension="png" ContentType="image/png"/>
  <Default Extension="xml" ContentType="application/xml"/>
  <Default Extension="jpeg" ContentType="image/jpeg"/>
  <Default Extension="rels" ContentType="application/vnd.openxmlformats-package.relationships+xml"/>
  <Default Extension="svg" ContentType="image/svg+xml"/>
  <Default Extension="bin" ContentType="application/vnd.openxmlformats-officedocument.oleObject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7" d="100"/>
          <a:sy n="47" d="100"/>
        </p:scale>
        <p:origin x="56" y="8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E1B6B-B6E0-668B-2414-EBC2EA3D7B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D70F5E-2E51-468F-F663-1912AC7DEEED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81205B-B872-47B6-7D20-C59C75EEDDA3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47FC7-95C9-7A14-A3DA-A0230463A268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B7D8D-68F8-F186-ADCF-3D257A3545EA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0499DD-8CA8-832F-849F-3A2FBEC037F7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392-9008-C5FD-BD02-373FC2EFF4F9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D62054-D6B5-1ADE-9B06-A4A8D9ECCC6F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E75ED7-74CF-2F71-625D-AA9D76CAB053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 flipH="1" flipV="1">
            <a:off x="7581323" y="11813"/>
            <a:ext cx="3365481" cy="10274023"/>
          </a:xfrm>
          <a:prstGeom prst="rect">
            <a:avLst/>
          </a:prstGeom>
          <a:solidFill>
            <a:srgbClr val="6E9A26">
              <a:alpha val="35000"/>
            </a:srgbClr>
          </a:solidFill>
          <a:ln>
            <a:noFill/>
          </a:ln>
        </p:spPr>
      </p:sp>
      <p:sp>
        <p:nvSpPr>
          <p:cNvPr id="17" name="Прямоугольник 16"/>
          <p:cNvSpPr/>
          <p:nvPr userDrawn="1"/>
        </p:nvSpPr>
        <p:spPr bwMode="auto">
          <a:xfrm flipH="1" flipV="1">
            <a:off x="10000897" y="19350"/>
            <a:ext cx="615127" cy="1026764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</p:sp>
      <p:sp>
        <p:nvSpPr>
          <p:cNvPr id="19" name="Прямоугольник 18"/>
          <p:cNvSpPr/>
          <p:nvPr userDrawn="1"/>
        </p:nvSpPr>
        <p:spPr bwMode="auto">
          <a:xfrm flipH="1" flipV="1">
            <a:off x="7295293" y="11808"/>
            <a:ext cx="1578123" cy="10274023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0" name="Прямоугольник 19"/>
          <p:cNvSpPr/>
          <p:nvPr userDrawn="1"/>
        </p:nvSpPr>
        <p:spPr bwMode="auto">
          <a:xfrm flipH="1" flipV="1">
            <a:off x="11430589" y="-10013"/>
            <a:ext cx="579047" cy="10292475"/>
          </a:xfrm>
          <a:prstGeom prst="rect">
            <a:avLst/>
          </a:prstGeom>
          <a:solidFill>
            <a:schemeClr val="bg1">
              <a:alpha val="43000"/>
            </a:schemeClr>
          </a:solidFill>
          <a:ln>
            <a:noFill/>
          </a:ln>
        </p:spPr>
      </p:sp>
      <p:sp>
        <p:nvSpPr>
          <p:cNvPr id="22" name="Прямоугольник 21"/>
          <p:cNvSpPr/>
          <p:nvPr userDrawn="1"/>
        </p:nvSpPr>
        <p:spPr bwMode="auto">
          <a:xfrm flipH="1" flipV="1">
            <a:off x="8873419" y="11799"/>
            <a:ext cx="390639" cy="10274023"/>
          </a:xfrm>
          <a:prstGeom prst="rect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</p:sp>
      <p:sp>
        <p:nvSpPr>
          <p:cNvPr id="23" name="Прямоугольник 22"/>
          <p:cNvSpPr/>
          <p:nvPr userDrawn="1"/>
        </p:nvSpPr>
        <p:spPr bwMode="auto">
          <a:xfrm flipH="1" flipV="1">
            <a:off x="3959424" y="11808"/>
            <a:ext cx="1579711" cy="10274023"/>
          </a:xfrm>
          <a:prstGeom prst="rect">
            <a:avLst/>
          </a:prstGeom>
          <a:solidFill>
            <a:srgbClr val="6E9A26">
              <a:alpha val="41000"/>
            </a:srgbClr>
          </a:solidFill>
          <a:ln>
            <a:noFill/>
          </a:ln>
        </p:spPr>
      </p:sp>
      <p:sp>
        <p:nvSpPr>
          <p:cNvPr id="25" name="Прямоугольник 24"/>
          <p:cNvSpPr/>
          <p:nvPr userDrawn="1"/>
        </p:nvSpPr>
        <p:spPr bwMode="auto">
          <a:xfrm flipH="1" flipV="1">
            <a:off x="12588689" y="11813"/>
            <a:ext cx="2171931" cy="10274023"/>
          </a:xfrm>
          <a:prstGeom prst="rect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</p:sp>
      <p:sp>
        <p:nvSpPr>
          <p:cNvPr id="27" name="Прямоугольник 26"/>
          <p:cNvSpPr/>
          <p:nvPr userDrawn="1"/>
        </p:nvSpPr>
        <p:spPr bwMode="auto">
          <a:xfrm flipH="1" flipV="1">
            <a:off x="12660103" y="11813"/>
            <a:ext cx="585807" cy="10274023"/>
          </a:xfrm>
          <a:prstGeom prst="rect">
            <a:avLst/>
          </a:prstGeom>
          <a:solidFill>
            <a:schemeClr val="bg1">
              <a:alpha val="56000"/>
            </a:schemeClr>
          </a:solidFill>
          <a:ln>
            <a:noFill/>
          </a:ln>
        </p:spPr>
      </p:sp>
      <p:sp>
        <p:nvSpPr>
          <p:cNvPr id="28" name="Прямоугольник 27"/>
          <p:cNvSpPr/>
          <p:nvPr userDrawn="1"/>
        </p:nvSpPr>
        <p:spPr bwMode="auto">
          <a:xfrm flipH="1" flipV="1">
            <a:off x="7295295" y="11808"/>
            <a:ext cx="572051" cy="10274023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</p:sp>
      <p:sp>
        <p:nvSpPr>
          <p:cNvPr id="29" name="Прямоугольник 28"/>
          <p:cNvSpPr/>
          <p:nvPr userDrawn="1"/>
        </p:nvSpPr>
        <p:spPr bwMode="auto">
          <a:xfrm flipH="1" flipV="1">
            <a:off x="10627695" y="11809"/>
            <a:ext cx="638221" cy="10274023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</p:sp>
      <p:sp>
        <p:nvSpPr>
          <p:cNvPr id="26" name="Прямоугольник 25"/>
          <p:cNvSpPr/>
          <p:nvPr userDrawn="1"/>
        </p:nvSpPr>
        <p:spPr bwMode="auto">
          <a:xfrm flipH="1" flipV="1">
            <a:off x="4855230" y="-10013"/>
            <a:ext cx="1057423" cy="10292475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</p:sp>
      <p:sp>
        <p:nvSpPr>
          <p:cNvPr id="21" name="Прямоугольник 20"/>
          <p:cNvSpPr/>
          <p:nvPr userDrawn="1"/>
        </p:nvSpPr>
        <p:spPr bwMode="auto">
          <a:xfrm flipH="1" flipV="1">
            <a:off x="6289327" y="11813"/>
            <a:ext cx="851865" cy="1027402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4" name="Прямоугольник 43"/>
          <p:cNvSpPr/>
          <p:nvPr userDrawn="1"/>
        </p:nvSpPr>
        <p:spPr bwMode="auto">
          <a:xfrm flipH="1" flipV="1">
            <a:off x="14045737" y="11809"/>
            <a:ext cx="460507" cy="10274023"/>
          </a:xfrm>
          <a:prstGeom prst="rect">
            <a:avLst/>
          </a:prstGeom>
          <a:solidFill>
            <a:schemeClr val="bg1">
              <a:alpha val="58999"/>
            </a:schemeClr>
          </a:solidFill>
          <a:ln>
            <a:noFill/>
          </a:ln>
        </p:spPr>
      </p:sp>
      <p:sp>
        <p:nvSpPr>
          <p:cNvPr id="46" name="Прямоугольник 45"/>
          <p:cNvSpPr/>
          <p:nvPr userDrawn="1"/>
        </p:nvSpPr>
        <p:spPr bwMode="auto">
          <a:xfrm flipH="1" flipV="1">
            <a:off x="4194879" y="11811"/>
            <a:ext cx="91437" cy="10274023"/>
          </a:xfrm>
          <a:prstGeom prst="rect">
            <a:avLst/>
          </a:prstGeom>
          <a:solidFill>
            <a:schemeClr val="bg1">
              <a:alpha val="78000"/>
            </a:schemeClr>
          </a:solidFill>
          <a:ln>
            <a:noFill/>
          </a:ln>
        </p:spPr>
      </p:sp>
      <p:sp>
        <p:nvSpPr>
          <p:cNvPr id="45" name="Прямоугольник 44"/>
          <p:cNvSpPr/>
          <p:nvPr userDrawn="1"/>
        </p:nvSpPr>
        <p:spPr bwMode="auto">
          <a:xfrm>
            <a:off x="3671391" y="2767235"/>
            <a:ext cx="11665296" cy="5508612"/>
          </a:xfrm>
          <a:prstGeom prst="rect">
            <a:avLst/>
          </a:prstGeom>
          <a:solidFill>
            <a:schemeClr val="bg1"/>
          </a:solidFill>
          <a:ln w="57150" cap="rnd" cmpd="sng">
            <a:noFill/>
            <a:prstDash val="sysDot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4749279" y="6115607"/>
            <a:ext cx="9296457" cy="1728191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 cap="none" spc="119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 bwMode="auto">
          <a:xfrm>
            <a:off x="4772391" y="3307295"/>
            <a:ext cx="9273345" cy="2376263"/>
          </a:xfrm>
        </p:spPr>
        <p:txBody>
          <a:bodyPr>
            <a:normAutofit/>
          </a:bodyPr>
          <a:lstStyle>
            <a:lvl1pPr algn="ctr">
              <a:defRPr sz="4000" cap="small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cxnSp>
        <p:nvCxnSpPr>
          <p:cNvPr id="49" name="Прямая соединительная линия 48"/>
          <p:cNvCxnSpPr>
            <a:cxnSpLocks/>
          </p:cNvCxnSpPr>
          <p:nvPr userDrawn="1"/>
        </p:nvCxnSpPr>
        <p:spPr bwMode="auto">
          <a:xfrm>
            <a:off x="4749279" y="5899583"/>
            <a:ext cx="4319460" cy="0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Овал 50"/>
          <p:cNvSpPr/>
          <p:nvPr userDrawn="1"/>
        </p:nvSpPr>
        <p:spPr bwMode="auto">
          <a:xfrm>
            <a:off x="9259229" y="5844131"/>
            <a:ext cx="144015" cy="108013"/>
          </a:xfrm>
          <a:prstGeom prst="ellipse">
            <a:avLst/>
          </a:prstGeom>
          <a:solidFill>
            <a:srgbClr val="6E9A26"/>
          </a:solidFill>
          <a:ln>
            <a:noFill/>
          </a:ln>
          <a:effectLst/>
        </p:spPr>
      </p:sp>
      <p:cxnSp>
        <p:nvCxnSpPr>
          <p:cNvPr id="54" name="Прямая соединительная линия 53"/>
          <p:cNvCxnSpPr>
            <a:cxnSpLocks/>
          </p:cNvCxnSpPr>
          <p:nvPr userDrawn="1"/>
        </p:nvCxnSpPr>
        <p:spPr bwMode="auto">
          <a:xfrm>
            <a:off x="9576047" y="5898137"/>
            <a:ext cx="4507591" cy="1"/>
          </a:xfrm>
          <a:prstGeom prst="line">
            <a:avLst/>
          </a:prstGeom>
          <a:ln w="9525" cap="flat" cmpd="sng" algn="ctr">
            <a:solidFill>
              <a:srgbClr val="6E9A26"/>
            </a:soli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1444626" y="1795127"/>
            <a:ext cx="15544800" cy="7344815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914400" y="1795129"/>
            <a:ext cx="8077199" cy="7394115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296399" y="1795129"/>
            <a:ext cx="8077199" cy="7394115"/>
          </a:xfrm>
          <a:prstGeom prst="rect">
            <a:avLst/>
          </a:prstGeom>
          <a:noFill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14400" y="1903140"/>
            <a:ext cx="8080375" cy="959643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914400" y="3091273"/>
            <a:ext cx="8080375" cy="6097971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9290052" y="1903140"/>
            <a:ext cx="8083549" cy="959643"/>
          </a:xfrm>
          <a:prstGeom prst="rect">
            <a:avLst/>
          </a:prstGeom>
          <a:noFill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9290052" y="3091273"/>
            <a:ext cx="8083549" cy="6097971"/>
          </a:xfrm>
          <a:prstGeom prst="rect">
            <a:avLst/>
          </a:prstGeom>
          <a:noFill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7150099" y="1795129"/>
            <a:ext cx="10223499" cy="7394115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914401" y="1795127"/>
            <a:ext cx="6016626" cy="7394117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3584575" y="1795127"/>
            <a:ext cx="10972800" cy="518457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Вставка рисунка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584575" y="7303739"/>
            <a:ext cx="10972800" cy="195455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13258800" y="411957"/>
            <a:ext cx="4114800" cy="8777287"/>
          </a:xfrm>
        </p:spPr>
        <p:txBody>
          <a:bodyPr vert="eaVert"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411957"/>
            <a:ext cx="12039599" cy="8777287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79103" y="282960"/>
            <a:ext cx="16129791" cy="129614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79103" y="2011151"/>
            <a:ext cx="16129791" cy="7452828"/>
          </a:xfrm>
          <a:prstGeom prst="rect">
            <a:avLst/>
          </a:prstGeom>
          <a:solidFill>
            <a:schemeClr val="bg1">
              <a:alpha val="78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1079103" y="9663091"/>
            <a:ext cx="4267199" cy="54768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22.10.2013</a:t>
            </a:fld>
            <a:endParaRPr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1880303" y="9624749"/>
            <a:ext cx="5791199" cy="547687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" name="Номер слайда 8"/>
          <p:cNvSpPr>
            <a:spLocks noGrp="1"/>
          </p:cNvSpPr>
          <p:nvPr>
            <p:ph type="sldNum" sz="quarter" idx="4"/>
          </p:nvPr>
        </p:nvSpPr>
        <p:spPr bwMode="auto">
          <a:xfrm>
            <a:off x="8267699" y="9680004"/>
            <a:ext cx="1752599" cy="438149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>
        <a:spcBef>
          <a:spcPts val="399"/>
        </a:spcBef>
        <a:buNone/>
        <a:defRPr sz="3600" b="0" cap="none" spc="0">
          <a:solidFill>
            <a:schemeClr val="bg1"/>
          </a:solidFill>
          <a:latin typeface="+mj-lt"/>
          <a:ea typeface="+mj-ea"/>
          <a:cs typeface="Arial"/>
        </a:defRPr>
      </a:lvl1pPr>
    </p:titleStyle>
    <p:bodyStyle>
      <a:lvl1pPr marL="342900" indent="-342900" algn="l" defTabSz="914400">
        <a:spcBef>
          <a:spcPts val="599"/>
        </a:spcBef>
        <a:spcAft>
          <a:spcPts val="0"/>
        </a:spcAft>
        <a:buClr>
          <a:schemeClr val="accent1"/>
        </a:buClr>
        <a:buFont typeface="Arial"/>
        <a:buChar char="•"/>
        <a:defRPr sz="2200" b="0" i="0" cap="none" spc="29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513651" indent="-342900" algn="l" defTabSz="914400">
        <a:spcBef>
          <a:spcPts val="599"/>
        </a:spcBef>
        <a:buClr>
          <a:schemeClr val="accent1"/>
        </a:buClr>
        <a:buFont typeface="Times New Roman"/>
        <a:buChar char="–"/>
        <a:defRPr sz="20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627951" indent="-285750" algn="l" defTabSz="914400">
        <a:spcBef>
          <a:spcPts val="599"/>
        </a:spcBef>
        <a:buClr>
          <a:schemeClr val="accent1"/>
        </a:buClr>
        <a:buFont typeface="Arial"/>
        <a:buChar char="•"/>
        <a:defRPr sz="18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800988" indent="-285750" algn="l" defTabSz="914400">
        <a:spcBef>
          <a:spcPts val="599"/>
        </a:spcBef>
        <a:buClr>
          <a:schemeClr val="accent1"/>
        </a:buClr>
        <a:buFont typeface="Times New Roman"/>
        <a:buChar char="–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972438" indent="-285750" algn="l" defTabSz="914400">
        <a:spcBef>
          <a:spcPts val="599"/>
        </a:spcBef>
        <a:buClr>
          <a:schemeClr val="accent1"/>
        </a:buClr>
        <a:buFont typeface="Times New Roman"/>
        <a:buChar char="»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105156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6pPr>
      <a:lvl7pPr marL="123444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7pPr>
      <a:lvl8pPr marL="1417319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8pPr>
      <a:lvl9pPr marL="1600200" indent="-173735" algn="l" defTabSz="91440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media1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2.png"/><Relationship Id="rId5" Type="http://schemas.openxmlformats.org/officeDocument/2006/relationships/image" Target="../media/media2.sv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1799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/>
          </a:blipFill>
        </p:spPr>
      </p:sp>
      <p:sp>
        <p:nvSpPr>
          <p:cNvPr id="5" name="Freeform 5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/>
          </a:blipFill>
        </p:spPr>
      </p:sp>
      <p:sp>
        <p:nvSpPr>
          <p:cNvPr id="15" name="Freeform 15"/>
          <p:cNvSpPr/>
          <p:nvPr/>
        </p:nvSpPr>
        <p:spPr bwMode="auto">
          <a:xfrm>
            <a:off x="1899748" y="2434062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</p:sp>
      <p:sp>
        <p:nvSpPr>
          <p:cNvPr id="17" name="Freeform 17"/>
          <p:cNvSpPr/>
          <p:nvPr/>
        </p:nvSpPr>
        <p:spPr bwMode="auto">
          <a:xfrm>
            <a:off x="14231928" y="5696614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</p:sp>
      <p:grpSp>
        <p:nvGrpSpPr>
          <p:cNvPr id="18" name="Group 18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pic>
        <p:nvPicPr>
          <p:cNvPr id="31" name="Imagen 3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57200" y="495301"/>
            <a:ext cx="3429000" cy="748996"/>
          </a:xfrm>
          <a:prstGeom prst="rect">
            <a:avLst/>
          </a:prstGeom>
        </p:spPr>
      </p:pic>
      <p:sp>
        <p:nvSpPr>
          <p:cNvPr id="21" name="Freeform 7"/>
          <p:cNvSpPr/>
          <p:nvPr/>
        </p:nvSpPr>
        <p:spPr bwMode="auto">
          <a:xfrm flipH="1">
            <a:off x="3844087" y="2292642"/>
            <a:ext cx="11888208" cy="3869072"/>
          </a:xfrm>
          <a:custGeom>
            <a:avLst/>
            <a:gdLst/>
            <a:ahLst/>
            <a:cxnLst/>
            <a:rect l="l" t="t" r="r" b="b"/>
            <a:pathLst>
              <a:path w="14708603" h="4786982" fill="norm" stroke="1" extrusionOk="0">
                <a:moveTo>
                  <a:pt x="0" y="0"/>
                </a:moveTo>
                <a:lnTo>
                  <a:pt x="14708604" y="0"/>
                </a:lnTo>
                <a:lnTo>
                  <a:pt x="14708604" y="4786982"/>
                </a:lnTo>
                <a:lnTo>
                  <a:pt x="0" y="4786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</p:sp>
      <p:sp>
        <p:nvSpPr>
          <p:cNvPr id="22" name="TextBox 11"/>
          <p:cNvSpPr txBox="1"/>
          <p:nvPr/>
        </p:nvSpPr>
        <p:spPr bwMode="auto">
          <a:xfrm>
            <a:off x="3996486" y="2466826"/>
            <a:ext cx="9527898" cy="158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97"/>
              </a:lnSpc>
              <a:spcBef>
                <a:spcPts val="0"/>
              </a:spcBef>
              <a:defRPr/>
            </a:pPr>
            <a:r>
              <a:rPr lang="en-US" sz="895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</a:rPr>
              <a:t>QuipuSoft</a:t>
            </a:r>
            <a:endParaRPr lang="en-US" sz="8950" b="1">
              <a:solidFill>
                <a:srgbClr val="FFFFFF"/>
              </a:solidFill>
              <a:latin typeface="Montserrat Heavy"/>
              <a:ea typeface="Montserrat Heavy"/>
              <a:cs typeface="Montserrat Heavy"/>
            </a:endParaRPr>
          </a:p>
        </p:txBody>
      </p:sp>
      <p:sp>
        <p:nvSpPr>
          <p:cNvPr id="23" name="TextBox 13"/>
          <p:cNvSpPr txBox="1"/>
          <p:nvPr/>
        </p:nvSpPr>
        <p:spPr bwMode="auto">
          <a:xfrm>
            <a:off x="190499" y="6627141"/>
            <a:ext cx="17911318" cy="54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ts val="0"/>
              </a:spcBef>
              <a:defRPr/>
            </a:pPr>
            <a:r>
              <a:rPr sz="3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Agentes de IA para incentivar los hábitos de clasificación y</a:t>
            </a:r>
            <a:r>
              <a:rPr sz="3600" b="1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 reciclado doméstico</a:t>
            </a:r>
            <a:endParaRPr lang="es-PE" sz="3600" b="1">
              <a:solidFill>
                <a:srgbClr val="FFFFFF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24" name="CuadroTexto 23"/>
          <p:cNvSpPr txBox="1"/>
          <p:nvPr/>
        </p:nvSpPr>
        <p:spPr bwMode="auto">
          <a:xfrm rot="16199999">
            <a:off x="3803625" y="2829262"/>
            <a:ext cx="1402792" cy="82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s-MX" sz="4800" b="1">
                <a:solidFill>
                  <a:schemeClr val="bg1"/>
                </a:solidFill>
              </a:rPr>
              <a:t>2026</a:t>
            </a:r>
            <a:endParaRPr sz="48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0" name="Group 10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0" y="8585012"/>
            <a:ext cx="8375085" cy="1701988"/>
            <a:chOff x="0" y="0"/>
            <a:chExt cx="2205784" cy="448260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2205784" cy="448260"/>
            </a:xfrm>
            <a:custGeom>
              <a:avLst/>
              <a:gdLst/>
              <a:ahLst/>
              <a:cxnLst/>
              <a:rect l="l" t="t" r="r" b="b"/>
              <a:pathLst>
                <a:path w="2205784" h="448260" fill="norm" stroke="1" extrusionOk="0">
                  <a:moveTo>
                    <a:pt x="0" y="0"/>
                  </a:moveTo>
                  <a:lnTo>
                    <a:pt x="2205784" y="0"/>
                  </a:lnTo>
                  <a:lnTo>
                    <a:pt x="2205784" y="448260"/>
                  </a:lnTo>
                  <a:lnTo>
                    <a:pt x="0" y="448260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2205784" cy="48636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 bwMode="auto">
          <a:xfrm>
            <a:off x="2177156" y="2595550"/>
            <a:ext cx="11768162" cy="97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NOMBRE DE	 LA SOLUCIÓN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2177157" y="2564446"/>
            <a:ext cx="1193492" cy="47625"/>
            <a:chOff x="0" y="0"/>
            <a:chExt cx="314335" cy="12543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 bwMode="auto">
          <a:xfrm>
            <a:off x="7296923" y="772403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1" name="TextBox 31"/>
          <p:cNvSpPr txBox="1"/>
          <p:nvPr/>
        </p:nvSpPr>
        <p:spPr bwMode="auto">
          <a:xfrm>
            <a:off x="2177155" y="4366045"/>
            <a:ext cx="9786962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es-PE" sz="2400">
                <a:solidFill>
                  <a:srgbClr val="FFFFFF"/>
                </a:solidFill>
                <a:ea typeface="Open Sans"/>
                <a:cs typeface="Open Sans"/>
              </a:rPr>
              <a:t>Indicamos el nombre de la solución</a:t>
            </a:r>
            <a:endParaRPr lang="es-PE" sz="2400">
              <a:solidFill>
                <a:srgbClr val="FFFFFF"/>
              </a:solidFill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 bwMode="auto">
          <a:xfrm>
            <a:off x="8103899" y="2395759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3" y="0"/>
                </a:lnTo>
                <a:lnTo>
                  <a:pt x="2156323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0" name="Freeform 30"/>
          <p:cNvSpPr/>
          <p:nvPr/>
        </p:nvSpPr>
        <p:spPr bwMode="auto">
          <a:xfrm>
            <a:off x="15369063" y="4211368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1" name="TextBox 31"/>
          <p:cNvSpPr txBox="1"/>
          <p:nvPr/>
        </p:nvSpPr>
        <p:spPr bwMode="auto">
          <a:xfrm>
            <a:off x="1822161" y="2713050"/>
            <a:ext cx="8008357" cy="1690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5"/>
              </a:lnSpc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NOMBRE DEL EQUIPO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32" name="Group 32"/>
          <p:cNvGrpSpPr/>
          <p:nvPr/>
        </p:nvGrpSpPr>
        <p:grpSpPr bwMode="auto">
          <a:xfrm>
            <a:off x="1822163" y="2577171"/>
            <a:ext cx="1193492" cy="47625"/>
            <a:chOff x="0" y="0"/>
            <a:chExt cx="314335" cy="12543"/>
          </a:xfrm>
        </p:grpSpPr>
        <p:sp>
          <p:nvSpPr>
            <p:cNvPr id="33" name="Freeform 33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34" name="TextBox 34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 bwMode="auto">
          <a:xfrm>
            <a:off x="1822161" y="5209753"/>
            <a:ext cx="9608557" cy="731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Intereses, capacidades, habilidades</a:t>
            </a:r>
            <a:endParaRPr/>
          </a:p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¿Qué los hace únicos?</a:t>
            </a:r>
            <a:endParaRPr/>
          </a:p>
        </p:txBody>
      </p:sp>
      <p:pic>
        <p:nvPicPr>
          <p:cNvPr id="43" name="Google Shape;399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115801" y="5414340"/>
            <a:ext cx="5284044" cy="4120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0" name="Group 10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1" name="Freeform 11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2" name="TextBox 12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 bwMode="auto">
          <a:xfrm>
            <a:off x="0" y="5143500"/>
            <a:ext cx="1329943" cy="5143500"/>
            <a:chOff x="0" y="0"/>
            <a:chExt cx="350273" cy="1354667"/>
          </a:xfrm>
        </p:grpSpPr>
        <p:sp>
          <p:nvSpPr>
            <p:cNvPr id="24" name="Freeform 24"/>
            <p:cNvSpPr/>
            <p:nvPr/>
          </p:nvSpPr>
          <p:spPr bwMode="auto">
            <a:xfrm>
              <a:off x="0" y="0"/>
              <a:ext cx="350273" cy="1354667"/>
            </a:xfrm>
            <a:custGeom>
              <a:avLst/>
              <a:gdLst/>
              <a:ahLst/>
              <a:cxnLst/>
              <a:rect l="l" t="t" r="r" b="b"/>
              <a:pathLst>
                <a:path w="350273" h="1354667" fill="norm" stroke="1" extrusionOk="0">
                  <a:moveTo>
                    <a:pt x="0" y="0"/>
                  </a:moveTo>
                  <a:lnTo>
                    <a:pt x="350273" y="0"/>
                  </a:lnTo>
                  <a:lnTo>
                    <a:pt x="350273" y="1354667"/>
                  </a:lnTo>
                  <a:lnTo>
                    <a:pt x="0" y="1354667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5" name="TextBox 25"/>
            <p:cNvSpPr txBox="1"/>
            <p:nvPr/>
          </p:nvSpPr>
          <p:spPr bwMode="auto">
            <a:xfrm>
              <a:off x="0" y="-38100"/>
              <a:ext cx="350273" cy="139276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 bwMode="auto">
          <a:xfrm>
            <a:off x="16131676" y="4065338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27" name="TextBox 27"/>
          <p:cNvSpPr txBox="1"/>
          <p:nvPr/>
        </p:nvSpPr>
        <p:spPr bwMode="auto">
          <a:xfrm>
            <a:off x="2032002" y="2165212"/>
            <a:ext cx="7036516" cy="845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655"/>
              </a:lnSpc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INTRODUCCIÓN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28" name="Group 28"/>
          <p:cNvGrpSpPr/>
          <p:nvPr/>
        </p:nvGrpSpPr>
        <p:grpSpPr bwMode="auto">
          <a:xfrm>
            <a:off x="2032003" y="2029333"/>
            <a:ext cx="1193492" cy="47625"/>
            <a:chOff x="0" y="0"/>
            <a:chExt cx="314335" cy="12543"/>
          </a:xfrm>
        </p:grpSpPr>
        <p:sp>
          <p:nvSpPr>
            <p:cNvPr id="29" name="Freeform 29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30" name="TextBox 30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 bwMode="auto">
          <a:xfrm>
            <a:off x="2055889" y="3652250"/>
            <a:ext cx="13642029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Preséntense brevemente y capten la atención de la audiencia con una introducción impactante.</a:t>
            </a:r>
            <a:endParaRPr/>
          </a:p>
        </p:txBody>
      </p:sp>
      <p:pic>
        <p:nvPicPr>
          <p:cNvPr id="36" name="Google Shape;425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229775" y="6057901"/>
            <a:ext cx="5327975" cy="2955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 bwMode="auto">
          <a:xfrm>
            <a:off x="18081" y="1755887"/>
            <a:ext cx="591519" cy="6585871"/>
            <a:chOff x="0" y="0"/>
            <a:chExt cx="350273" cy="1734550"/>
          </a:xfrm>
        </p:grpSpPr>
        <p:sp>
          <p:nvSpPr>
            <p:cNvPr id="25" name="Freeform 25"/>
            <p:cNvSpPr/>
            <p:nvPr/>
          </p:nvSpPr>
          <p:spPr bwMode="auto">
            <a:xfrm>
              <a:off x="0" y="0"/>
              <a:ext cx="350273" cy="1734550"/>
            </a:xfrm>
            <a:custGeom>
              <a:avLst/>
              <a:gdLst/>
              <a:ahLst/>
              <a:cxnLst/>
              <a:rect l="l" t="t" r="r" b="b"/>
              <a:pathLst>
                <a:path w="350273" h="1734550" fill="norm" stroke="1" extrusionOk="0">
                  <a:moveTo>
                    <a:pt x="0" y="0"/>
                  </a:moveTo>
                  <a:lnTo>
                    <a:pt x="350273" y="0"/>
                  </a:lnTo>
                  <a:lnTo>
                    <a:pt x="350273" y="1734550"/>
                  </a:lnTo>
                  <a:lnTo>
                    <a:pt x="0" y="1734550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6" name="TextBox 26"/>
            <p:cNvSpPr txBox="1"/>
            <p:nvPr/>
          </p:nvSpPr>
          <p:spPr bwMode="auto">
            <a:xfrm>
              <a:off x="0" y="-38100"/>
              <a:ext cx="350273" cy="17726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 bwMode="auto">
          <a:xfrm>
            <a:off x="5442845" y="739214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28" name="Freeform 28"/>
          <p:cNvSpPr/>
          <p:nvPr/>
        </p:nvSpPr>
        <p:spPr bwMode="auto">
          <a:xfrm>
            <a:off x="3019047" y="7269075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29" name="TextBox 29"/>
          <p:cNvSpPr txBox="1"/>
          <p:nvPr/>
        </p:nvSpPr>
        <p:spPr bwMode="auto">
          <a:xfrm>
            <a:off x="8470542" y="1059804"/>
            <a:ext cx="9056176" cy="1956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CONTEXTO DEL PROBLEMA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30" name="Group 30"/>
          <p:cNvGrpSpPr/>
          <p:nvPr/>
        </p:nvGrpSpPr>
        <p:grpSpPr bwMode="auto">
          <a:xfrm>
            <a:off x="8470543" y="1028700"/>
            <a:ext cx="1193492" cy="47625"/>
            <a:chOff x="0" y="0"/>
            <a:chExt cx="314335" cy="12543"/>
          </a:xfrm>
        </p:grpSpPr>
        <p:sp>
          <p:nvSpPr>
            <p:cNvPr id="31" name="Freeform 31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32" name="TextBox 32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 bwMode="auto">
          <a:xfrm>
            <a:off x="8461501" y="3848099"/>
            <a:ext cx="7466465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Describan claramente el problema que su proyecto aborda.</a:t>
            </a:r>
            <a:endParaRPr/>
          </a:p>
        </p:txBody>
      </p:sp>
      <p:pic>
        <p:nvPicPr>
          <p:cNvPr id="49" name="Google Shape;404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938038" y="2895538"/>
            <a:ext cx="4452245" cy="383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4" name="Group 14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5" name="Freeform 15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6" name="TextBox 16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3" name="Freeform 23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4" name="TextBox 24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 bwMode="auto">
          <a:xfrm>
            <a:off x="8924756" y="78470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4" name="Freeform 34"/>
          <p:cNvSpPr/>
          <p:nvPr/>
        </p:nvSpPr>
        <p:spPr bwMode="auto">
          <a:xfrm>
            <a:off x="13866595" y="7345970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3" y="0"/>
                </a:lnTo>
                <a:lnTo>
                  <a:pt x="2156323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5" name="TextBox 35"/>
          <p:cNvSpPr txBox="1"/>
          <p:nvPr/>
        </p:nvSpPr>
        <p:spPr bwMode="auto">
          <a:xfrm>
            <a:off x="2125298" y="2378232"/>
            <a:ext cx="6114848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SOLUCIÓN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36" name="Group 36"/>
          <p:cNvGrpSpPr/>
          <p:nvPr/>
        </p:nvGrpSpPr>
        <p:grpSpPr bwMode="auto">
          <a:xfrm>
            <a:off x="2125299" y="2347127"/>
            <a:ext cx="1193492" cy="47625"/>
            <a:chOff x="0" y="0"/>
            <a:chExt cx="314335" cy="12543"/>
          </a:xfrm>
        </p:grpSpPr>
        <p:sp>
          <p:nvSpPr>
            <p:cNvPr id="37" name="Freeform 37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38" name="TextBox 38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 bwMode="auto">
          <a:xfrm>
            <a:off x="2125298" y="4232599"/>
            <a:ext cx="5869620" cy="731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Expliquen su solución de manera concisa y efectiva.</a:t>
            </a:r>
            <a:endParaRPr/>
          </a:p>
        </p:txBody>
      </p:sp>
      <p:pic>
        <p:nvPicPr>
          <p:cNvPr id="55" name="Google Shape;420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279250" y="3627541"/>
            <a:ext cx="5556016" cy="3269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 bwMode="auto">
          <a:xfrm>
            <a:off x="15136792" y="3975808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48" name="TextBox 48"/>
          <p:cNvSpPr txBox="1"/>
          <p:nvPr/>
        </p:nvSpPr>
        <p:spPr bwMode="auto">
          <a:xfrm>
            <a:off x="4765981" y="1814278"/>
            <a:ext cx="8756754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BENEFICIOS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49" name="Group 49"/>
          <p:cNvGrpSpPr/>
          <p:nvPr/>
        </p:nvGrpSpPr>
        <p:grpSpPr bwMode="auto">
          <a:xfrm>
            <a:off x="8547254" y="1783174"/>
            <a:ext cx="1193492" cy="47625"/>
            <a:chOff x="0" y="0"/>
            <a:chExt cx="314335" cy="12543"/>
          </a:xfrm>
        </p:grpSpPr>
        <p:sp>
          <p:nvSpPr>
            <p:cNvPr id="50" name="Freeform 50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51" name="TextBox 51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52" name="TextBox 42"/>
          <p:cNvSpPr txBox="1"/>
          <p:nvPr/>
        </p:nvSpPr>
        <p:spPr bwMode="auto">
          <a:xfrm>
            <a:off x="2133599" y="3600954"/>
            <a:ext cx="13003911" cy="366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Destaquen los beneficios y el impacto potencial de su propuesta.</a:t>
            </a:r>
            <a:endParaRPr/>
          </a:p>
        </p:txBody>
      </p:sp>
      <p:pic>
        <p:nvPicPr>
          <p:cNvPr id="53" name="Google Shape;400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12877799" y="5420524"/>
            <a:ext cx="4415316" cy="3399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10053D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</a:blip>
            <a:stretch/>
          </a:blipFill>
        </p:spPr>
      </p:sp>
      <p:grpSp>
        <p:nvGrpSpPr>
          <p:cNvPr id="11" name="Group 11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3" name="TextBox 13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0" name="Freeform 20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1" name="TextBox 21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 bwMode="auto">
          <a:xfrm>
            <a:off x="1541647" y="1337049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25" name="Freeform 25"/>
          <p:cNvSpPr/>
          <p:nvPr/>
        </p:nvSpPr>
        <p:spPr bwMode="auto">
          <a:xfrm>
            <a:off x="8391493" y="710197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26" name="TextBox 26"/>
          <p:cNvSpPr txBox="1"/>
          <p:nvPr/>
        </p:nvSpPr>
        <p:spPr bwMode="auto">
          <a:xfrm>
            <a:off x="11589805" y="2939749"/>
            <a:ext cx="4332684" cy="97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  <a:spcBef>
                <a:spcPts val="0"/>
              </a:spcBef>
              <a:defRPr/>
            </a:pPr>
            <a:r>
              <a:rPr lang="en-US" sz="5500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</a:rPr>
              <a:t>[ CIERRE ]</a:t>
            </a:r>
            <a:endParaRPr lang="en-US" sz="5500" b="1">
              <a:solidFill>
                <a:srgbClr val="FFFFFF"/>
              </a:solidFill>
              <a:latin typeface="TT Supermolot Neue Expanded Bold"/>
              <a:ea typeface="TT Supermolot Neue Expanded Bold"/>
              <a:cs typeface="TT Supermolot Neue Expanded Bold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11589806" y="2908645"/>
            <a:ext cx="1193492" cy="47625"/>
            <a:chOff x="0" y="0"/>
            <a:chExt cx="314335" cy="12543"/>
          </a:xfrm>
        </p:grpSpPr>
        <p:sp>
          <p:nvSpPr>
            <p:cNvPr id="28" name="Freeform 28"/>
            <p:cNvSpPr/>
            <p:nvPr/>
          </p:nvSpPr>
          <p:spPr bwMode="auto">
            <a:xfrm>
              <a:off x="0" y="0"/>
              <a:ext cx="314335" cy="12543"/>
            </a:xfrm>
            <a:custGeom>
              <a:avLst/>
              <a:gdLst/>
              <a:ahLst/>
              <a:cxnLst/>
              <a:rect l="l" t="t" r="r" b="b"/>
              <a:pathLst>
                <a:path w="314335" h="12543" fill="norm" stroke="1" extrusionOk="0">
                  <a:moveTo>
                    <a:pt x="0" y="0"/>
                  </a:moveTo>
                  <a:lnTo>
                    <a:pt x="314335" y="0"/>
                  </a:lnTo>
                  <a:lnTo>
                    <a:pt x="314335" y="12543"/>
                  </a:lnTo>
                  <a:lnTo>
                    <a:pt x="0" y="12543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9" name="TextBox 29"/>
            <p:cNvSpPr txBox="1"/>
            <p:nvPr/>
          </p:nvSpPr>
          <p:spPr bwMode="auto">
            <a:xfrm>
              <a:off x="0" y="-38100"/>
              <a:ext cx="314335" cy="5064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 bwMode="auto">
          <a:xfrm>
            <a:off x="11589806" y="4814266"/>
            <a:ext cx="3807973" cy="1097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ts val="0"/>
              </a:spcBef>
              <a:defRPr/>
            </a:pPr>
            <a:r>
              <a:rPr lang="es-MX" sz="2400">
                <a:solidFill>
                  <a:srgbClr val="FFFFFF"/>
                </a:solidFill>
                <a:ea typeface="Open Sans"/>
                <a:cs typeface="Open Sans"/>
              </a:rPr>
              <a:t>Concluyan con un llamado a la acción o una reflexión que deje una impresión duradera.</a:t>
            </a:r>
            <a:endParaRPr/>
          </a:p>
        </p:txBody>
      </p:sp>
      <p:pic>
        <p:nvPicPr>
          <p:cNvPr id="38" name="Google Shape;427;p23"/>
          <p:cNvPicPr/>
          <p:nvPr/>
        </p:nvPicPr>
        <p:blipFill>
          <a:blip r:embed="rId4">
            <a:alphaModFix/>
          </a:blip>
          <a:stretch/>
        </p:blipFill>
        <p:spPr bwMode="auto">
          <a:xfrm>
            <a:off x="685800" y="5448300"/>
            <a:ext cx="4270279" cy="3216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 bwMode="auto">
          <a:xfrm>
            <a:off x="-11624" y="-4827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</p:sp>
      <p:sp>
        <p:nvSpPr>
          <p:cNvPr id="3" name="Freeform 3"/>
          <p:cNvSpPr/>
          <p:nvPr/>
        </p:nvSpPr>
        <p:spPr bwMode="auto">
          <a:xfrm>
            <a:off x="673429" y="479195"/>
            <a:ext cx="274427" cy="260018"/>
          </a:xfrm>
          <a:custGeom>
            <a:avLst/>
            <a:gdLst/>
            <a:ahLst/>
            <a:cxnLst/>
            <a:rect l="l" t="t" r="r" b="b"/>
            <a:pathLst>
              <a:path w="274427" h="260019" fill="norm" stroke="1" extrusionOk="0">
                <a:moveTo>
                  <a:pt x="0" y="0"/>
                </a:moveTo>
                <a:lnTo>
                  <a:pt x="274427" y="0"/>
                </a:lnTo>
                <a:lnTo>
                  <a:pt x="274427" y="260019"/>
                </a:lnTo>
                <a:lnTo>
                  <a:pt x="0" y="260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</p:sp>
      <p:sp>
        <p:nvSpPr>
          <p:cNvPr id="4" name="Freeform 4"/>
          <p:cNvSpPr/>
          <p:nvPr/>
        </p:nvSpPr>
        <p:spPr bwMode="auto">
          <a:xfrm>
            <a:off x="12708289" y="-3086100"/>
            <a:ext cx="8229600" cy="8229600"/>
          </a:xfrm>
          <a:custGeom>
            <a:avLst/>
            <a:gdLst/>
            <a:ahLst/>
            <a:cxnLst/>
            <a:rect l="l" t="t" r="r" b="b"/>
            <a:pathLst>
              <a:path w="8229600" h="8229600" fill="norm" stroke="1" extrusionOk="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</a:blip>
            <a:stretch/>
          </a:blipFill>
        </p:spPr>
      </p:sp>
      <p:sp>
        <p:nvSpPr>
          <p:cNvPr id="5" name="Freeform 5"/>
          <p:cNvSpPr/>
          <p:nvPr/>
        </p:nvSpPr>
        <p:spPr bwMode="auto">
          <a:xfrm>
            <a:off x="-2484392" y="6367692"/>
            <a:ext cx="5781216" cy="5781216"/>
          </a:xfrm>
          <a:custGeom>
            <a:avLst/>
            <a:gdLst/>
            <a:ahLst/>
            <a:cxnLst/>
            <a:rect l="l" t="t" r="r" b="b"/>
            <a:pathLst>
              <a:path w="5781216" h="5781216" fill="norm" stroke="1" extrusionOk="0">
                <a:moveTo>
                  <a:pt x="0" y="0"/>
                </a:moveTo>
                <a:lnTo>
                  <a:pt x="5781216" y="0"/>
                </a:lnTo>
                <a:lnTo>
                  <a:pt x="5781216" y="5781216"/>
                </a:lnTo>
                <a:lnTo>
                  <a:pt x="0" y="57812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6000"/>
            </a:blip>
            <a:stretch/>
          </a:blipFill>
        </p:spPr>
      </p:sp>
      <p:grpSp>
        <p:nvGrpSpPr>
          <p:cNvPr id="6" name="Group 6"/>
          <p:cNvGrpSpPr/>
          <p:nvPr/>
        </p:nvGrpSpPr>
        <p:grpSpPr bwMode="auto"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7" name="Freeform 7"/>
            <p:cNvSpPr/>
            <p:nvPr/>
          </p:nvSpPr>
          <p:spPr bwMode="auto"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 fill="norm" stroke="1" extrusionOk="0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8" name="TextBox 8"/>
            <p:cNvSpPr txBox="1"/>
            <p:nvPr/>
          </p:nvSpPr>
          <p:spPr bwMode="auto">
            <a:xfrm>
              <a:off x="0" y="-38100"/>
              <a:ext cx="128243" cy="47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 bwMode="auto"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10" name="Freeform 10"/>
            <p:cNvSpPr/>
            <p:nvPr/>
          </p:nvSpPr>
          <p:spPr bwMode="auto"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 fill="norm" stroke="1" extrusionOk="0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11" name="TextBox 11"/>
            <p:cNvSpPr txBox="1"/>
            <p:nvPr/>
          </p:nvSpPr>
          <p:spPr bwMode="auto">
            <a:xfrm>
              <a:off x="0" y="-38100"/>
              <a:ext cx="128243" cy="4745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ts val="0"/>
                </a:spcBef>
                <a:defRPr/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 bwMode="auto">
          <a:xfrm>
            <a:off x="2977910" y="3512224"/>
            <a:ext cx="12332180" cy="2527676"/>
            <a:chOff x="0" y="0"/>
            <a:chExt cx="3247982" cy="859273"/>
          </a:xfrm>
        </p:grpSpPr>
        <p:sp>
          <p:nvSpPr>
            <p:cNvPr id="13" name="Freeform 13"/>
            <p:cNvSpPr/>
            <p:nvPr/>
          </p:nvSpPr>
          <p:spPr bwMode="auto">
            <a:xfrm>
              <a:off x="0" y="0"/>
              <a:ext cx="3247982" cy="859273"/>
            </a:xfrm>
            <a:custGeom>
              <a:avLst/>
              <a:gdLst/>
              <a:ahLst/>
              <a:cxnLst/>
              <a:rect l="l" t="t" r="r" b="b"/>
              <a:pathLst>
                <a:path w="3247982" h="859273" fill="norm" stroke="1" extrusionOk="0">
                  <a:moveTo>
                    <a:pt x="0" y="0"/>
                  </a:moveTo>
                  <a:lnTo>
                    <a:pt x="3247982" y="0"/>
                  </a:lnTo>
                  <a:lnTo>
                    <a:pt x="3247982" y="859273"/>
                  </a:lnTo>
                  <a:lnTo>
                    <a:pt x="0" y="8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gradFill>
                <a:gsLst>
                  <a:gs pos="0">
                    <a:srgbClr val="FF2BC4">
                      <a:alpha val="100000"/>
                    </a:srgbClr>
                  </a:gs>
                  <a:gs pos="100000">
                    <a:srgbClr val="5500FF">
                      <a:alpha val="100000"/>
                    </a:srgbClr>
                  </a:gs>
                </a:gsLst>
                <a:lin ang="2700000" scaled="1"/>
              </a:gra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 bwMode="auto">
            <a:xfrm>
              <a:off x="0" y="-38100"/>
              <a:ext cx="3247982" cy="89737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 bwMode="auto">
          <a:xfrm>
            <a:off x="1899748" y="2434062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</p:sp>
      <p:sp>
        <p:nvSpPr>
          <p:cNvPr id="17" name="Freeform 17"/>
          <p:cNvSpPr/>
          <p:nvPr/>
        </p:nvSpPr>
        <p:spPr bwMode="auto">
          <a:xfrm>
            <a:off x="14231928" y="5044576"/>
            <a:ext cx="2156324" cy="2156324"/>
          </a:xfrm>
          <a:custGeom>
            <a:avLst/>
            <a:gdLst/>
            <a:ahLst/>
            <a:cxnLst/>
            <a:rect l="l" t="t" r="r" b="b"/>
            <a:pathLst>
              <a:path w="2156324" h="2156324" fill="norm" stroke="1" extrusionOk="0">
                <a:moveTo>
                  <a:pt x="0" y="0"/>
                </a:moveTo>
                <a:lnTo>
                  <a:pt x="2156324" y="0"/>
                </a:lnTo>
                <a:lnTo>
                  <a:pt x="2156324" y="2156324"/>
                </a:lnTo>
                <a:lnTo>
                  <a:pt x="0" y="2156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</p:sp>
      <p:grpSp>
        <p:nvGrpSpPr>
          <p:cNvPr id="18" name="Group 18"/>
          <p:cNvGrpSpPr/>
          <p:nvPr/>
        </p:nvGrpSpPr>
        <p:grpSpPr bwMode="auto">
          <a:xfrm>
            <a:off x="17839141" y="8809441"/>
            <a:ext cx="448859" cy="448859"/>
            <a:chOff x="0" y="0"/>
            <a:chExt cx="118218" cy="118218"/>
          </a:xfrm>
        </p:grpSpPr>
        <p:sp>
          <p:nvSpPr>
            <p:cNvPr id="19" name="Freeform 19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gradFill>
              <a:gsLst>
                <a:gs pos="0">
                  <a:srgbClr val="FF2BC4">
                    <a:alpha val="100000"/>
                  </a:srgbClr>
                </a:gs>
                <a:gs pos="100000">
                  <a:srgbClr val="5500FF">
                    <a:alpha val="100000"/>
                  </a:srgbClr>
                </a:gs>
              </a:gsLst>
              <a:lin ang="2700000" scaled="1"/>
            </a:gradFill>
          </p:spPr>
        </p:sp>
        <p:sp>
          <p:nvSpPr>
            <p:cNvPr id="20" name="TextBox 20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 bwMode="auto">
          <a:xfrm>
            <a:off x="1096257" y="489098"/>
            <a:ext cx="1386632" cy="249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defRPr/>
            </a:pPr>
            <a:r>
              <a:rPr lang="en-US" sz="1400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</a:rPr>
              <a:t>BORCELLE</a:t>
            </a:r>
            <a:endParaRPr/>
          </a:p>
        </p:txBody>
      </p:sp>
      <p:sp>
        <p:nvSpPr>
          <p:cNvPr id="22" name="TextBox 22"/>
          <p:cNvSpPr txBox="1"/>
          <p:nvPr/>
        </p:nvSpPr>
        <p:spPr bwMode="auto">
          <a:xfrm>
            <a:off x="15940841" y="517673"/>
            <a:ext cx="979179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Contact</a:t>
            </a:r>
            <a:endParaRPr/>
          </a:p>
        </p:txBody>
      </p:sp>
      <p:sp>
        <p:nvSpPr>
          <p:cNvPr id="23" name="TextBox 23"/>
          <p:cNvSpPr txBox="1"/>
          <p:nvPr/>
        </p:nvSpPr>
        <p:spPr bwMode="auto">
          <a:xfrm>
            <a:off x="14385045" y="517673"/>
            <a:ext cx="1061217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About Us</a:t>
            </a:r>
            <a:endParaRPr/>
          </a:p>
        </p:txBody>
      </p:sp>
      <p:sp>
        <p:nvSpPr>
          <p:cNvPr id="24" name="TextBox 24"/>
          <p:cNvSpPr txBox="1"/>
          <p:nvPr/>
        </p:nvSpPr>
        <p:spPr bwMode="auto">
          <a:xfrm>
            <a:off x="13154288" y="517673"/>
            <a:ext cx="736175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Photo</a:t>
            </a:r>
            <a:endParaRPr/>
          </a:p>
        </p:txBody>
      </p:sp>
      <p:sp>
        <p:nvSpPr>
          <p:cNvPr id="25" name="TextBox 25"/>
          <p:cNvSpPr txBox="1"/>
          <p:nvPr/>
        </p:nvSpPr>
        <p:spPr bwMode="auto">
          <a:xfrm>
            <a:off x="11898529" y="517673"/>
            <a:ext cx="810479" cy="21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defRPr/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Home</a:t>
            </a:r>
            <a:endParaRPr/>
          </a:p>
        </p:txBody>
      </p:sp>
      <p:grpSp>
        <p:nvGrpSpPr>
          <p:cNvPr id="26" name="Group 26"/>
          <p:cNvGrpSpPr/>
          <p:nvPr/>
        </p:nvGrpSpPr>
        <p:grpSpPr bwMode="auto">
          <a:xfrm>
            <a:off x="17839141" y="8360583"/>
            <a:ext cx="448859" cy="448859"/>
            <a:chOff x="0" y="0"/>
            <a:chExt cx="118218" cy="118218"/>
          </a:xfrm>
        </p:grpSpPr>
        <p:sp>
          <p:nvSpPr>
            <p:cNvPr id="27" name="Freeform 27"/>
            <p:cNvSpPr/>
            <p:nvPr/>
          </p:nvSpPr>
          <p:spPr bwMode="auto">
            <a:xfrm>
              <a:off x="0" y="0"/>
              <a:ext cx="118218" cy="118218"/>
            </a:xfrm>
            <a:custGeom>
              <a:avLst/>
              <a:gdLst/>
              <a:ahLst/>
              <a:cxnLst/>
              <a:rect l="l" t="t" r="r" b="b"/>
              <a:pathLst>
                <a:path w="118218" h="118218" fill="norm" stroke="1" extrusionOk="0">
                  <a:moveTo>
                    <a:pt x="0" y="0"/>
                  </a:moveTo>
                  <a:lnTo>
                    <a:pt x="118218" y="0"/>
                  </a:lnTo>
                  <a:lnTo>
                    <a:pt x="118218" y="118218"/>
                  </a:lnTo>
                  <a:lnTo>
                    <a:pt x="0" y="118218"/>
                  </a:lnTo>
                  <a:close/>
                </a:path>
              </a:pathLst>
            </a:custGeom>
            <a:solidFill>
              <a:srgbClr val="FFFFFF">
                <a:alpha val="19608"/>
              </a:srgbClr>
            </a:solidFill>
          </p:spPr>
        </p:sp>
        <p:sp>
          <p:nvSpPr>
            <p:cNvPr id="28" name="TextBox 28"/>
            <p:cNvSpPr txBox="1"/>
            <p:nvPr/>
          </p:nvSpPr>
          <p:spPr bwMode="auto">
            <a:xfrm>
              <a:off x="0" y="-38100"/>
              <a:ext cx="118218" cy="15631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defRPr/>
              </a:pPr>
              <a:endParaRPr/>
            </a:p>
          </p:txBody>
        </p:sp>
      </p:grpSp>
      <p:sp>
        <p:nvSpPr>
          <p:cNvPr id="29" name="TextBox 12"/>
          <p:cNvSpPr txBox="1"/>
          <p:nvPr/>
        </p:nvSpPr>
        <p:spPr bwMode="auto">
          <a:xfrm>
            <a:off x="3631963" y="3800297"/>
            <a:ext cx="10922954" cy="1850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567"/>
              </a:lnSpc>
              <a:spcBef>
                <a:spcPts val="0"/>
              </a:spcBef>
              <a:defRPr/>
            </a:pPr>
            <a:r>
              <a:rPr lang="en-US" sz="10400" b="1">
                <a:solidFill>
                  <a:srgbClr val="FFFFFF"/>
                </a:solidFill>
                <a:latin typeface="Montserrat Heavy"/>
                <a:ea typeface="Montserrat Heavy"/>
                <a:cs typeface="Montserrat Heavy"/>
              </a:rPr>
              <a:t>GRACIAS!</a:t>
            </a:r>
            <a:endParaRPr lang="en-US" sz="10400" b="1">
              <a:solidFill>
                <a:srgbClr val="FFFFFF"/>
              </a:solidFill>
              <a:latin typeface="Montserrat Heavy"/>
              <a:ea typeface="Montserrat Heavy"/>
              <a:cs typeface="Montserrat Heavy"/>
            </a:endParaRPr>
          </a:p>
        </p:txBody>
      </p:sp>
      <p:pic>
        <p:nvPicPr>
          <p:cNvPr id="30" name="Imagen 2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806069" y="7301185"/>
            <a:ext cx="3429000" cy="7489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Green leaf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Классическая">
      <a:majorFont>
        <a:latin typeface="Arial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SOHO">
      <a:fillStyleLst>
        <a:solidFill>
          <a:schemeClr val="phClr"/>
        </a:solidFill>
        <a:gradFill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>
          <a:gsLst>
            <a:gs pos="0">
              <a:schemeClr val="phClr">
                <a:shade val="67000"/>
                <a:satMod val="150000"/>
              </a:schemeClr>
            </a:gs>
            <a:gs pos="30000">
              <a:schemeClr val="phClr">
                <a:shade val="94000"/>
                <a:satMod val="130000"/>
              </a:schemeClr>
            </a:gs>
            <a:gs pos="45000">
              <a:schemeClr val="phClr">
                <a:shade val="100000"/>
                <a:satMod val="120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4000"/>
                <a:satMod val="130000"/>
              </a:schemeClr>
            </a:gs>
            <a:gs pos="100000">
              <a:schemeClr val="phClr">
                <a:shade val="67000"/>
                <a:satMod val="150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64000"/>
                <a:satMod val="210000"/>
              </a:schemeClr>
            </a:gs>
            <a:gs pos="40000">
              <a:schemeClr val="phClr">
                <a:tint val="72000"/>
                <a:shade val="99000"/>
                <a:satMod val="200000"/>
              </a:schemeClr>
            </a:gs>
            <a:gs pos="100000">
              <a:schemeClr val="phClr">
                <a:tint val="100000"/>
                <a:shade val="30000"/>
                <a:alpha val="100000"/>
                <a:satMod val="175000"/>
                <a:lumMod val="100000"/>
              </a:schemeClr>
            </a:gs>
          </a:gsLst>
          <a:path path="circle"/>
        </a:gradFill>
        <a:blipFill>
          <a:blip r:embed="rId1">
            <a:duotone>
              <a:schemeClr val="phClr">
                <a:tint val="86000"/>
                <a:alpha val="90000"/>
              </a:schemeClr>
              <a:schemeClr val="phClr">
                <a:shade val="49000"/>
                <a:satMod val="120000"/>
              </a:schemeClr>
            </a:duotone>
          </a:blip>
          <a:stretch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ONLYOFFICE/8.0.1.31</Application>
  <DocSecurity>0</DocSecurity>
  <PresentationFormat>Personalizado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Purple Futuristic Technology Presentation</dc:title>
  <dc:subject/>
  <dc:creator/>
  <cp:keywords/>
  <dc:description/>
  <dc:identifier>DAGQ3fa1hZk</dc:identifier>
  <dc:language/>
  <cp:lastModifiedBy/>
  <cp:revision>8</cp:revision>
  <dcterms:created xsi:type="dcterms:W3CDTF">2006-08-16T00:00:00Z</dcterms:created>
  <dcterms:modified xsi:type="dcterms:W3CDTF">2026-06-24T20:28:07Z</dcterms:modified>
  <cp:category/>
  <cp:contentStatus/>
  <cp:version/>
</cp:coreProperties>
</file>